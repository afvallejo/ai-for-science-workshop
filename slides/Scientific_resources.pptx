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522bfc681a464f" /><Relationship Type="http://schemas.openxmlformats.org/officeDocument/2006/relationships/extended-properties" Target="/docProps/app.xml" Id="Rfa04fc0f05c94ec7" /><Relationship Type="http://schemas.openxmlformats.org/officeDocument/2006/relationships/officeDocument" Target="/ppt/presentation.xml" Id="Rc951df119a1849ce" /></Relationships>
</file>

<file path=ppt/presentation.xml><?xml version="1.0" encoding="utf-8"?>
<p:presentation xmlns:p="http://schemas.openxmlformats.org/presentationml/2006/main">
  <p:sldMasterIdLst>
    <p:sldMasterId xmlns:r="http://schemas.openxmlformats.org/officeDocument/2006/relationships" id="2147483648" r:id="R9d553d8d58a245d3"/>
  </p:sldMasterIdLst>
  <p:notesMasterIdLst>
    <p:notesMasterId xmlns:r="http://schemas.openxmlformats.org/officeDocument/2006/relationships" r:id="R85981876e99e4e2d"/>
  </p:notesMasterIdLst>
  <p:sldIdLst>
    <p:sldId xmlns:r="http://schemas.openxmlformats.org/officeDocument/2006/relationships" id="256" r:id="Rc677940d38194d2c"/>
    <p:sldId xmlns:r="http://schemas.openxmlformats.org/officeDocument/2006/relationships" id="257" r:id="Rb9a9c7f227064efe"/>
    <p:sldId xmlns:r="http://schemas.openxmlformats.org/officeDocument/2006/relationships" id="258" r:id="Ra651e8d6eaff45f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235db021194490" /><Relationship Type="http://schemas.openxmlformats.org/officeDocument/2006/relationships/slideMaster" Target="/ppt/slideMasters/slideMaster1.xml" Id="R9d553d8d58a245d3" /><Relationship Type="http://schemas.openxmlformats.org/officeDocument/2006/relationships/notesMaster" Target="/ppt/notesMasters/notesMaster1.xml" Id="R85981876e99e4e2d" /><Relationship Type="http://schemas.openxmlformats.org/officeDocument/2006/relationships/presProps" Target="/ppt/presProps.xml" Id="R738ed9bbd1fa43ca" /><Relationship Type="http://schemas.openxmlformats.org/officeDocument/2006/relationships/tableStyles" Target="/ppt/tableStyles.xml" Id="R39dd8131aef64e88" /><Relationship Type="http://schemas.openxmlformats.org/officeDocument/2006/relationships/slide" Target="/ppt/slides/slide1.xml" Id="Rc677940d38194d2c" /><Relationship Type="http://schemas.openxmlformats.org/officeDocument/2006/relationships/slide" Target="/ppt/slides/slide2.xml" Id="Rb9a9c7f227064efe" /><Relationship Type="http://schemas.openxmlformats.org/officeDocument/2006/relationships/slide" Target="/ppt/slides/slide3.xml" Id="Ra651e8d6eaff45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b7c62da5fb46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580dfa57704c54" /><Relationship Type="http://schemas.openxmlformats.org/officeDocument/2006/relationships/notesMaster" Target="/ppt/notesMasters/notesMaster1.xml" Id="R7c38305b9dff49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e5625b777f48cf" /><Relationship Type="http://schemas.openxmlformats.org/officeDocument/2006/relationships/notesMaster" Target="/ppt/notesMasters/notesMaster1.xml" Id="Rdedd3521c3a84e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c78f9cd40f453e" /><Relationship Type="http://schemas.openxmlformats.org/officeDocument/2006/relationships/notesMaster" Target="/ppt/notesMasters/notesMaster1.xml" Id="R53149d13b3c14a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Resources checked 17 September 2026. Scientific Agent Skills was previously named Claude Scientific Skills. Skills provide reusable workflow instructions and may include scripts or call external services. They do not establish scientific validity or automatically supply dependencies or database access. Review the individual SKILL.md and use the host-specific installation instructions. No installation is part of these slides.</a:t>
            </a:r>
          </a:p>
          <a:p xmlns:a="http://schemas.openxmlformats.org/drawingml/2006/main">
            <a:r>
              <a:t>Sources: https://github.com/K-Dense-AI/scientific-agent-skills</a:t>
            </a:r>
          </a:p>
          <a:p xmlns:a="http://schemas.openxmlformats.org/drawingml/2006/main">
            <a:r>
              <a:t>https://github.com/K-Dense-AI/scientific-agent-skills/tree/main/skills/literature-review</a:t>
            </a:r>
          </a:p>
          <a:p xmlns:a="http://schemas.openxmlformats.org/drawingml/2006/main">
            <a:r>
              <a:t>https://github.com/K-Dense-AI/scientific-agent-skills/tree/main/skills/citation-management</a:t>
            </a:r>
          </a:p>
          <a:p xmlns:a="http://schemas.openxmlformats.org/drawingml/2006/main">
            <a:r>
              <a:t>https://github.com/K-Dense-AI/scientific-agent-skills/tree/main/skills/scientific-visualization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BioMCP is a third-party project maintained by GenomOncology, not an official NCBI/PubMed server. Its documentation describes local stdio and remote HTTP MCP modes, biomedical search and record retrieval. The literature workflow separates searching from retrieving details/full text. Sources and available fields vary. Account, provider-key, licensing and client requirements depend on the chosen configuration. No server was installed or queried for this presentation.</a:t>
            </a:r>
          </a:p>
          <a:p xmlns:a="http://schemas.openxmlformats.org/drawingml/2006/main">
            <a:r>
              <a:t>Sources checked 17 September 2026:</a:t>
            </a:r>
          </a:p>
          <a:p xmlns:a="http://schemas.openxmlformats.org/drawingml/2006/main">
            <a:r>
              <a:t>https://biomcp.org/user-guide/article/</a:t>
            </a:r>
          </a:p>
          <a:p xmlns:a="http://schemas.openxmlformats.org/drawingml/2006/main">
            <a:r>
              <a:t>https://biomcp.org/sources/pubmed/</a:t>
            </a:r>
          </a:p>
          <a:p xmlns:a="http://schemas.openxmlformats.org/drawingml/2006/main">
            <a:r>
              <a:t>https://biomcp.org/getting-started/mcp-clients/</a:t>
            </a:r>
          </a:p>
          <a:p xmlns:a="http://schemas.openxmlformats.org/drawingml/2006/main">
            <a:r>
              <a:t>https://biomcp.org/reference/mcp-server/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teaching prompt, not a completed search or a claim of comprehensive literature coverage. Use an installed literature-review skill if appropriate and a configured literature MCP tool. For full reproducibility, preserve exact query text, source, filters, date searched, returned identifiers and reasons for excluding records. Verify source passages and sample units. If the MCP tool is unavailable, stop and identify the missing connection rather than inventing retrieval. Primary-study status must be checked against the record/paper. A five-paper shortlist is not a systematic review.</a:t>
            </a:r>
          </a:p>
          <a:p xmlns:a="http://schemas.openxmlformats.org/drawingml/2006/main">
            <a:r>
              <a:t>Workflow resources:</a:t>
            </a:r>
          </a:p>
          <a:p xmlns:a="http://schemas.openxmlformats.org/drawingml/2006/main">
            <a:r>
              <a:t>https://github.com/K-Dense-AI/scientific-agent-skills/tree/main/skills/literature-review</a:t>
            </a:r>
          </a:p>
          <a:p xmlns:a="http://schemas.openxmlformats.org/drawingml/2006/main">
            <a:r>
              <a:t>https://biomcp.org/user-guide/article/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ba21735ef34e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3f3f4405a8401a" /><Relationship Type="http://schemas.openxmlformats.org/officeDocument/2006/relationships/slideLayout" Target="/ppt/slideLayouts/slideLayout1.xml" Id="R0a645b9519264a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645b9519264a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5c3151996a4ad7" /><Relationship Type="http://schemas.openxmlformats.org/officeDocument/2006/relationships/hyperlink" Target="https://github.com/K-Dense-AI/scientific-agent-skills" TargetMode="External" Id="R9165d3723b864cbe" /><Relationship Type="http://schemas.openxmlformats.org/officeDocument/2006/relationships/hyperlink" Target="https://github.com/K-Dense-AI/scientific-agent-skills/tree/main/skills/literature-review" TargetMode="External" Id="R41b3abaa7bae4be8" /><Relationship Type="http://schemas.openxmlformats.org/officeDocument/2006/relationships/hyperlink" Target="https://github.com/K-Dense-AI/scientific-agent-skills/tree/main/skills/citation-management" TargetMode="External" Id="Re5ec580217b2499f" /><Relationship Type="http://schemas.openxmlformats.org/officeDocument/2006/relationships/hyperlink" Target="https://github.com/K-Dense-AI/scientific-agent-skills/tree/main/skills/scientific-visualization" TargetMode="External" Id="Re2864569d1c445e4" /><Relationship Type="http://schemas.openxmlformats.org/officeDocument/2006/relationships/hyperlink" Target="https://github.com/K-Dense-AI/scientific-agent-skills" TargetMode="External" Id="Rb84dbde25fd14b22" /><Relationship Type="http://schemas.openxmlformats.org/officeDocument/2006/relationships/notesSlide" Target="/ppt/notesSlides/notesSlide1.xml" Id="R2364cd9c883e46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cc434cf742457c" /><Relationship Type="http://schemas.openxmlformats.org/officeDocument/2006/relationships/hyperlink" Target="https://biomcp.org/" TargetMode="External" Id="R55db82dd36d24043" /><Relationship Type="http://schemas.openxmlformats.org/officeDocument/2006/relationships/hyperlink" Target="https://biomcp.org/getting-started/mcp-clients/" TargetMode="External" Id="Rb49eaf871818488c" /><Relationship Type="http://schemas.openxmlformats.org/officeDocument/2006/relationships/notesSlide" Target="/ppt/notesSlides/notesSlide2.xml" Id="R7de97e4507ca41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9770186399c4815" /><Relationship Type="http://schemas.openxmlformats.org/officeDocument/2006/relationships/hyperlink" Target="https://github.com/afvallejo/ai-for-science-workshop/blob/main/Resource_links.md" TargetMode="External" Id="R701feedaa8e94f5f" /><Relationship Type="http://schemas.openxmlformats.org/officeDocument/2006/relationships/notesSlide" Target="/ppt/notesSlides/notesSlide3.xml" Id="R4edfa59c0eca41c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39FF12-C424-4144-AA72-32B6132FDCE5}"/>
              </a:ext>
            </a:extLst>
          </p:cNvPr>
          <p:cNvSpPr>
            <a:spLocks xmlns:a="http://schemas.openxmlformats.org/drawingml/2006/main" noGrp="1"/>
          </p:cNvSpPr>
          <p:nvPr/>
        </p:nvSpPr>
        <p:spPr>
          <a:xfrm xmlns:a="http://schemas.openxmlformats.org/drawingml/2006/main">
            <a:off x="781050" y="457200"/>
            <a:ext cx="1352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83C41"/>
                </a:solidFill>
                <a:latin typeface="Arial"/>
                <a:ea typeface="Arial"/>
                <a:cs typeface="Arial"/>
              </a:defRPr>
            </a:pPr>
            <a:r>
              <a:rPr sz="4275" b="1">
                <a:solidFill>
                  <a:srgbClr val="183C41"/>
                </a:solidFill>
                <a:latin typeface="Arial"/>
                <a:ea typeface="Arial"/>
                <a:cs typeface="Arial"/>
              </a:rPr>
              <a:t>Scientific skills: reusable workflows</a:t>
            </a:r>
          </a:p>
        </p:txBody>
      </p:sp>
      <p:sp>
        <p:nvSpPr>
          <p:cNvPr id="2" name="">
            <a:extLst xmlns:a="http://schemas.openxmlformats.org/drawingml/2006/main">
              <a:ext uri="{FF2B5EF4-FFF2-40B4-BE49-F238E27FC236}">
                <a16:creationId xmlns:a16="http://schemas.microsoft.com/office/drawing/2014/main" id="{4CFCB32B-6C5B-4CB3-8B35-28276B2033C7}"/>
              </a:ext>
            </a:extLst>
          </p:cNvPr>
          <p:cNvSpPr>
            <a:spLocks xmlns:a="http://schemas.openxmlformats.org/drawingml/2006/main" noGrp="1"/>
          </p:cNvSpPr>
          <p:nvPr/>
        </p:nvSpPr>
        <p:spPr>
          <a:xfrm xmlns:a="http://schemas.openxmlformats.org/drawingml/2006/main">
            <a:off x="14192250" y="8143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A71"/>
                </a:solidFill>
                <a:latin typeface="Arial"/>
                <a:ea typeface="Arial"/>
                <a:cs typeface="Arial"/>
              </a:defRPr>
            </a:pPr>
            <a:r>
              <a:rPr sz="1350" b="0">
                <a:solidFill>
                  <a:srgbClr val="526A71"/>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FAB929F3-285B-49FA-833E-882F05B44565}"/>
              </a:ext>
            </a:extLst>
          </p:cNvPr>
          <p:cNvSpPr>
            <a:spLocks xmlns:a="http://schemas.openxmlformats.org/drawingml/2006/main" noGrp="1"/>
          </p:cNvSpPr>
          <p:nvPr/>
        </p:nvSpPr>
        <p:spPr>
          <a:xfrm xmlns:a="http://schemas.openxmlformats.org/drawingml/2006/main">
            <a:off x="809625" y="1666875"/>
            <a:ext cx="1352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780"/>
                </a:solidFill>
                <a:latin typeface="Arial"/>
                <a:ea typeface="Arial"/>
                <a:cs typeface="Arial"/>
              </a:defRPr>
            </a:pPr>
            <a:r>
              <a:rPr sz="3150" b="1" u="sng">
                <a:solidFill>
                  <a:srgbClr val="007780"/>
                </a:solidFill>
                <a:latin typeface="Arial"/>
                <a:ea typeface="Arial"/>
                <a:cs typeface="Arial"/>
                <a:hlinkClick xmlns:r="http://schemas.openxmlformats.org/officeDocument/2006/relationships" r:id="R9165d3723b864cbe"/>
              </a:rPr>
              <a:t>Scientific Agent Skills by K-Dense</a:t>
            </a:r>
          </a:p>
        </p:txBody>
      </p:sp>
      <p:sp>
        <p:nvSpPr>
          <p:cNvPr id="4" name="">
            <a:extLst xmlns:a="http://schemas.openxmlformats.org/drawingml/2006/main">
              <a:ext uri="{FF2B5EF4-FFF2-40B4-BE49-F238E27FC236}">
                <a16:creationId xmlns:a16="http://schemas.microsoft.com/office/drawing/2014/main" id="{5F5E027D-B424-4B29-81E9-AD3585E80900}"/>
              </a:ext>
            </a:extLst>
          </p:cNvPr>
          <p:cNvSpPr>
            <a:spLocks xmlns:a="http://schemas.openxmlformats.org/drawingml/2006/main" noGrp="1"/>
          </p:cNvSpPr>
          <p:nvPr/>
        </p:nvSpPr>
        <p:spPr>
          <a:xfrm xmlns:a="http://schemas.openxmlformats.org/drawingml/2006/main">
            <a:off x="809625" y="2524125"/>
            <a:ext cx="1343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C41"/>
                </a:solidFill>
                <a:latin typeface="Arial"/>
                <a:ea typeface="Arial"/>
                <a:cs typeface="Arial"/>
              </a:defRPr>
            </a:pPr>
            <a:r>
              <a:rPr sz="2625" b="0">
                <a:solidFill>
                  <a:srgbClr val="183C41"/>
                </a:solidFill>
                <a:latin typeface="Arial"/>
                <a:ea typeface="Arial"/>
                <a:cs typeface="Arial"/>
              </a:rPr>
              <a:t>A library of instructions, examples and scripts for scientific work.</a:t>
            </a:r>
          </a:p>
          <a:p xmlns:a="http://schemas.openxmlformats.org/drawingml/2006/main">
            <a:pPr>
              <a:defRPr sz="2625" b="0">
                <a:solidFill>
                  <a:srgbClr val="183C41"/>
                </a:solidFill>
                <a:latin typeface="Arial"/>
                <a:ea typeface="Arial"/>
                <a:cs typeface="Arial"/>
              </a:defRPr>
            </a:pPr>
            <a:r>
              <a:rPr sz="2625" b="0">
                <a:solidFill>
                  <a:srgbClr val="183C41"/>
                </a:solidFill>
                <a:latin typeface="Arial"/>
                <a:ea typeface="Arial"/>
                <a:cs typeface="Arial"/>
              </a:rPr>
              <a:t>Compatible with Codex and other agents that support Agent Skills.</a:t>
            </a:r>
          </a:p>
        </p:txBody>
      </p:sp>
      <p:sp>
        <p:nvSpPr>
          <p:cNvPr id="5" name="">
            <a:extLst xmlns:a="http://schemas.openxmlformats.org/drawingml/2006/main">
              <a:ext uri="{FF2B5EF4-FFF2-40B4-BE49-F238E27FC236}">
                <a16:creationId xmlns:a16="http://schemas.microsoft.com/office/drawing/2014/main" id="{4FD47A09-13BE-4493-AA7F-CC62ACBE9AC2}"/>
              </a:ext>
            </a:extLst>
          </p:cNvPr>
          <p:cNvSpPr>
            <a:spLocks xmlns:a="http://schemas.openxmlformats.org/drawingml/2006/main" noGrp="1"/>
          </p:cNvSpPr>
          <p:nvPr/>
        </p:nvSpPr>
        <p:spPr>
          <a:xfrm xmlns:a="http://schemas.openxmlformats.org/drawingml/2006/main">
            <a:off x="809625" y="40481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7780"/>
                </a:solidFill>
                <a:latin typeface="Arial"/>
                <a:ea typeface="Arial"/>
                <a:cs typeface="Arial"/>
              </a:defRPr>
            </a:pPr>
            <a:r>
              <a:rPr sz="2625" b="1" u="sng">
                <a:solidFill>
                  <a:srgbClr val="007780"/>
                </a:solidFill>
                <a:latin typeface="Arial"/>
                <a:ea typeface="Arial"/>
                <a:cs typeface="Arial"/>
                <a:hlinkClick xmlns:r="http://schemas.openxmlformats.org/officeDocument/2006/relationships" r:id="R41b3abaa7bae4be8"/>
              </a:rPr>
              <a:t>literature-review</a:t>
            </a:r>
          </a:p>
        </p:txBody>
      </p:sp>
      <p:sp>
        <p:nvSpPr>
          <p:cNvPr id="6" name="">
            <a:extLst xmlns:a="http://schemas.openxmlformats.org/drawingml/2006/main">
              <a:ext uri="{FF2B5EF4-FFF2-40B4-BE49-F238E27FC236}">
                <a16:creationId xmlns:a16="http://schemas.microsoft.com/office/drawing/2014/main" id="{6E15BBAF-8D98-4B65-9872-233E05765F4E}"/>
              </a:ext>
            </a:extLst>
          </p:cNvPr>
          <p:cNvSpPr>
            <a:spLocks xmlns:a="http://schemas.openxmlformats.org/drawingml/2006/main" noGrp="1"/>
          </p:cNvSpPr>
          <p:nvPr/>
        </p:nvSpPr>
        <p:spPr>
          <a:xfrm xmlns:a="http://schemas.openxmlformats.org/drawingml/2006/main">
            <a:off x="5857875" y="4048125"/>
            <a:ext cx="8524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83C41"/>
                </a:solidFill>
                <a:latin typeface="Arial"/>
                <a:ea typeface="Arial"/>
                <a:cs typeface="Arial"/>
              </a:defRPr>
            </a:pPr>
            <a:r>
              <a:rPr sz="2475" b="0">
                <a:solidFill>
                  <a:srgbClr val="183C41"/>
                </a:solidFill>
                <a:latin typeface="Arial"/>
                <a:ea typeface="Arial"/>
                <a:cs typeface="Arial"/>
              </a:rPr>
              <a:t>Search, screen and synthesise published evidence.</a:t>
            </a:r>
          </a:p>
        </p:txBody>
      </p:sp>
      <p:sp>
        <p:nvSpPr>
          <p:cNvPr id="7" name="">
            <a:extLst xmlns:a="http://schemas.openxmlformats.org/drawingml/2006/main">
              <a:ext uri="{FF2B5EF4-FFF2-40B4-BE49-F238E27FC236}">
                <a16:creationId xmlns:a16="http://schemas.microsoft.com/office/drawing/2014/main" id="{A2BBA159-EA98-4206-BAF2-504C03D74DB5}"/>
              </a:ext>
            </a:extLst>
          </p:cNvPr>
          <p:cNvSpPr>
            <a:spLocks xmlns:a="http://schemas.openxmlformats.org/drawingml/2006/main" noGrp="1"/>
          </p:cNvSpPr>
          <p:nvPr/>
        </p:nvSpPr>
        <p:spPr>
          <a:xfrm xmlns:a="http://schemas.openxmlformats.org/drawingml/2006/main">
            <a:off x="809625" y="48577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7780"/>
                </a:solidFill>
                <a:latin typeface="Arial"/>
                <a:ea typeface="Arial"/>
                <a:cs typeface="Arial"/>
              </a:defRPr>
            </a:pPr>
            <a:r>
              <a:rPr sz="2625" b="1" u="sng">
                <a:solidFill>
                  <a:srgbClr val="007780"/>
                </a:solidFill>
                <a:latin typeface="Arial"/>
                <a:ea typeface="Arial"/>
                <a:cs typeface="Arial"/>
                <a:hlinkClick xmlns:r="http://schemas.openxmlformats.org/officeDocument/2006/relationships" r:id="Re5ec580217b2499f"/>
              </a:rPr>
              <a:t>citation-management</a:t>
            </a:r>
          </a:p>
        </p:txBody>
      </p:sp>
      <p:sp>
        <p:nvSpPr>
          <p:cNvPr id="8" name="">
            <a:extLst xmlns:a="http://schemas.openxmlformats.org/drawingml/2006/main">
              <a:ext uri="{FF2B5EF4-FFF2-40B4-BE49-F238E27FC236}">
                <a16:creationId xmlns:a16="http://schemas.microsoft.com/office/drawing/2014/main" id="{30D9A962-B390-4C72-A881-6C314ECB1B32}"/>
              </a:ext>
            </a:extLst>
          </p:cNvPr>
          <p:cNvSpPr>
            <a:spLocks xmlns:a="http://schemas.openxmlformats.org/drawingml/2006/main" noGrp="1"/>
          </p:cNvSpPr>
          <p:nvPr/>
        </p:nvSpPr>
        <p:spPr>
          <a:xfrm xmlns:a="http://schemas.openxmlformats.org/drawingml/2006/main">
            <a:off x="5857875" y="4857750"/>
            <a:ext cx="8524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83C41"/>
                </a:solidFill>
                <a:latin typeface="Arial"/>
                <a:ea typeface="Arial"/>
                <a:cs typeface="Arial"/>
              </a:defRPr>
            </a:pPr>
            <a:r>
              <a:rPr sz="2475" b="0">
                <a:solidFill>
                  <a:srgbClr val="183C41"/>
                </a:solidFill>
                <a:latin typeface="Arial"/>
                <a:ea typeface="Arial"/>
                <a:cs typeface="Arial"/>
              </a:rPr>
              <a:t>Check references and prepare citation records.</a:t>
            </a:r>
          </a:p>
        </p:txBody>
      </p:sp>
      <p:sp>
        <p:nvSpPr>
          <p:cNvPr id="9" name="">
            <a:extLst xmlns:a="http://schemas.openxmlformats.org/drawingml/2006/main">
              <a:ext uri="{FF2B5EF4-FFF2-40B4-BE49-F238E27FC236}">
                <a16:creationId xmlns:a16="http://schemas.microsoft.com/office/drawing/2014/main" id="{E6CD1B64-C2D6-4D2B-A5C7-AEA5EEFA4169}"/>
              </a:ext>
            </a:extLst>
          </p:cNvPr>
          <p:cNvSpPr>
            <a:spLocks xmlns:a="http://schemas.openxmlformats.org/drawingml/2006/main" noGrp="1"/>
          </p:cNvSpPr>
          <p:nvPr/>
        </p:nvSpPr>
        <p:spPr>
          <a:xfrm xmlns:a="http://schemas.openxmlformats.org/drawingml/2006/main">
            <a:off x="809625" y="566737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7780"/>
                </a:solidFill>
                <a:latin typeface="Arial"/>
                <a:ea typeface="Arial"/>
                <a:cs typeface="Arial"/>
              </a:defRPr>
            </a:pPr>
            <a:r>
              <a:rPr sz="2625" b="1" u="sng">
                <a:solidFill>
                  <a:srgbClr val="007780"/>
                </a:solidFill>
                <a:latin typeface="Arial"/>
                <a:ea typeface="Arial"/>
                <a:cs typeface="Arial"/>
                <a:hlinkClick xmlns:r="http://schemas.openxmlformats.org/officeDocument/2006/relationships" r:id="Re2864569d1c445e4"/>
              </a:rPr>
              <a:t>scientific-visualization</a:t>
            </a:r>
          </a:p>
        </p:txBody>
      </p:sp>
      <p:sp>
        <p:nvSpPr>
          <p:cNvPr id="10" name="">
            <a:extLst xmlns:a="http://schemas.openxmlformats.org/drawingml/2006/main">
              <a:ext uri="{FF2B5EF4-FFF2-40B4-BE49-F238E27FC236}">
                <a16:creationId xmlns:a16="http://schemas.microsoft.com/office/drawing/2014/main" id="{F907D2D2-43BB-47C8-8631-74280FFE3182}"/>
              </a:ext>
            </a:extLst>
          </p:cNvPr>
          <p:cNvSpPr>
            <a:spLocks xmlns:a="http://schemas.openxmlformats.org/drawingml/2006/main" noGrp="1"/>
          </p:cNvSpPr>
          <p:nvPr/>
        </p:nvSpPr>
        <p:spPr>
          <a:xfrm xmlns:a="http://schemas.openxmlformats.org/drawingml/2006/main">
            <a:off x="5857875" y="5667375"/>
            <a:ext cx="8524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83C41"/>
                </a:solidFill>
                <a:latin typeface="Arial"/>
                <a:ea typeface="Arial"/>
                <a:cs typeface="Arial"/>
              </a:defRPr>
            </a:pPr>
            <a:r>
              <a:rPr sz="2475" b="0">
                <a:solidFill>
                  <a:srgbClr val="183C41"/>
                </a:solidFill>
                <a:latin typeface="Arial"/>
                <a:ea typeface="Arial"/>
                <a:cs typeface="Arial"/>
              </a:rPr>
              <a:t>Plan figures and work with plotting libraries.</a:t>
            </a:r>
          </a:p>
        </p:txBody>
      </p:sp>
      <p:sp>
        <p:nvSpPr>
          <p:cNvPr id="11" name="">
            <a:extLst xmlns:a="http://schemas.openxmlformats.org/drawingml/2006/main">
              <a:ext uri="{FF2B5EF4-FFF2-40B4-BE49-F238E27FC236}">
                <a16:creationId xmlns:a16="http://schemas.microsoft.com/office/drawing/2014/main" id="{175210AA-E3D8-4193-BC3F-3D4FE4B30F5C}"/>
              </a:ext>
            </a:extLst>
          </p:cNvPr>
          <p:cNvSpPr>
            <a:spLocks xmlns:a="http://schemas.openxmlformats.org/drawingml/2006/main" noGrp="1"/>
          </p:cNvSpPr>
          <p:nvPr/>
        </p:nvSpPr>
        <p:spPr>
          <a:xfrm xmlns:a="http://schemas.openxmlformats.org/drawingml/2006/main">
            <a:off x="809625" y="6953250"/>
            <a:ext cx="1352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83C41"/>
                </a:solidFill>
                <a:latin typeface="Arial"/>
                <a:ea typeface="Arial"/>
                <a:cs typeface="Arial"/>
              </a:defRPr>
            </a:pPr>
            <a:r>
              <a:rPr sz="2475" b="1">
                <a:solidFill>
                  <a:srgbClr val="183C41"/>
                </a:solidFill>
                <a:latin typeface="Arial"/>
                <a:ea typeface="Arial"/>
                <a:cs typeface="Arial"/>
              </a:rPr>
              <a:t>Read the SKILL.md, choose one relevant workflow and check its outputs.</a:t>
            </a:r>
          </a:p>
        </p:txBody>
      </p:sp>
      <p:sp>
        <p:nvSpPr>
          <p:cNvPr id="12" name="">
            <a:extLst xmlns:a="http://schemas.openxmlformats.org/drawingml/2006/main">
              <a:ext uri="{FF2B5EF4-FFF2-40B4-BE49-F238E27FC236}">
                <a16:creationId xmlns:a16="http://schemas.microsoft.com/office/drawing/2014/main" id="{6CB47AA6-01DC-4785-BB96-67D60CAFD128}"/>
              </a:ext>
            </a:extLst>
          </p:cNvPr>
          <p:cNvSpPr>
            <a:spLocks xmlns:a="http://schemas.openxmlformats.org/drawingml/2006/main" noGrp="1"/>
          </p:cNvSpPr>
          <p:nvPr/>
        </p:nvSpPr>
        <p:spPr>
          <a:xfrm xmlns:a="http://schemas.openxmlformats.org/drawingml/2006/main">
            <a:off x="809625" y="8048625"/>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A71"/>
                </a:solidFill>
                <a:latin typeface="Arial"/>
                <a:ea typeface="Arial"/>
                <a:cs typeface="Arial"/>
              </a:defRPr>
            </a:pPr>
            <a:r>
              <a:rPr sz="1650" b="0" u="sng">
                <a:solidFill>
                  <a:srgbClr val="526A71"/>
                </a:solidFill>
                <a:latin typeface="Arial"/>
                <a:ea typeface="Arial"/>
                <a:cs typeface="Arial"/>
                <a:hlinkClick xmlns:r="http://schemas.openxmlformats.org/officeDocument/2006/relationships" r:id="Rb84dbde25fd14b22"/>
              </a:rPr>
              <a:t>github.com/K-Dense-AI/scientific-agent-skills</a:t>
            </a:r>
          </a:p>
        </p:txBody>
      </p:sp>
    </p:spTree>
    <p:extLst>
      <p:ext uri="{BB962C8B-B14F-4D97-AF65-F5344CB8AC3E}">
        <p14:creationId xmlns:p14="http://schemas.microsoft.com/office/powerpoint/2010/main" val="2432928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B8C6AA-1CC6-4E08-B393-41D62318ABB5}"/>
              </a:ext>
            </a:extLst>
          </p:cNvPr>
          <p:cNvSpPr>
            <a:spLocks xmlns:a="http://schemas.openxmlformats.org/drawingml/2006/main" noGrp="1"/>
          </p:cNvSpPr>
          <p:nvPr/>
        </p:nvSpPr>
        <p:spPr>
          <a:xfrm xmlns:a="http://schemas.openxmlformats.org/drawingml/2006/main">
            <a:off x="781050" y="457200"/>
            <a:ext cx="1352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83C41"/>
                </a:solidFill>
                <a:latin typeface="Arial"/>
                <a:ea typeface="Arial"/>
                <a:cs typeface="Arial"/>
              </a:defRPr>
            </a:pPr>
            <a:r>
              <a:rPr sz="4275" b="1">
                <a:solidFill>
                  <a:srgbClr val="183C41"/>
                </a:solidFill>
                <a:latin typeface="Arial"/>
                <a:ea typeface="Arial"/>
                <a:cs typeface="Arial"/>
              </a:rPr>
              <a:t>Literature tools through MCP</a:t>
            </a:r>
          </a:p>
        </p:txBody>
      </p:sp>
      <p:sp>
        <p:nvSpPr>
          <p:cNvPr id="2" name="">
            <a:extLst xmlns:a="http://schemas.openxmlformats.org/drawingml/2006/main">
              <a:ext uri="{FF2B5EF4-FFF2-40B4-BE49-F238E27FC236}">
                <a16:creationId xmlns:a16="http://schemas.microsoft.com/office/drawing/2014/main" id="{E5D28002-AC24-45D5-A5A4-83282AFE28AA}"/>
              </a:ext>
            </a:extLst>
          </p:cNvPr>
          <p:cNvSpPr>
            <a:spLocks xmlns:a="http://schemas.openxmlformats.org/drawingml/2006/main" noGrp="1"/>
          </p:cNvSpPr>
          <p:nvPr/>
        </p:nvSpPr>
        <p:spPr>
          <a:xfrm xmlns:a="http://schemas.openxmlformats.org/drawingml/2006/main">
            <a:off x="14192250" y="8143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A71"/>
                </a:solidFill>
                <a:latin typeface="Arial"/>
                <a:ea typeface="Arial"/>
                <a:cs typeface="Arial"/>
              </a:defRPr>
            </a:pPr>
            <a:r>
              <a:rPr sz="1350" b="0">
                <a:solidFill>
                  <a:srgbClr val="526A71"/>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11FC6C7F-6F84-4B5F-9234-0D88DFF34200}"/>
              </a:ext>
            </a:extLst>
          </p:cNvPr>
          <p:cNvSpPr>
            <a:spLocks xmlns:a="http://schemas.openxmlformats.org/drawingml/2006/main" noGrp="1"/>
          </p:cNvSpPr>
          <p:nvPr/>
        </p:nvSpPr>
        <p:spPr>
          <a:xfrm xmlns:a="http://schemas.openxmlformats.org/drawingml/2006/main">
            <a:off x="809625" y="1619250"/>
            <a:ext cx="1352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780"/>
                </a:solidFill>
                <a:latin typeface="Arial"/>
                <a:ea typeface="Arial"/>
                <a:cs typeface="Arial"/>
              </a:defRPr>
            </a:pPr>
            <a:r>
              <a:rPr sz="2925" b="1">
                <a:solidFill>
                  <a:srgbClr val="007780"/>
                </a:solidFill>
                <a:latin typeface="Arial"/>
                <a:ea typeface="Arial"/>
                <a:cs typeface="Arial"/>
              </a:rPr>
              <a:t>MCP connects the assistant to a tool that can retrieve records.</a:t>
            </a:r>
          </a:p>
        </p:txBody>
      </p:sp>
      <p:sp>
        <p:nvSpPr>
          <p:cNvPr id="4" name="">
            <a:extLst xmlns:a="http://schemas.openxmlformats.org/drawingml/2006/main">
              <a:ext uri="{FF2B5EF4-FFF2-40B4-BE49-F238E27FC236}">
                <a16:creationId xmlns:a16="http://schemas.microsoft.com/office/drawing/2014/main" id="{4465A03E-C2E3-447D-B9E1-478DD29DAFAD}"/>
              </a:ext>
            </a:extLst>
          </p:cNvPr>
          <p:cNvSpPr>
            <a:spLocks xmlns:a="http://schemas.openxmlformats.org/drawingml/2006/main" noGrp="1"/>
          </p:cNvSpPr>
          <p:nvPr/>
        </p:nvSpPr>
        <p:spPr>
          <a:xfrm xmlns:a="http://schemas.openxmlformats.org/drawingml/2006/main">
            <a:off x="809625" y="28575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07780"/>
                </a:solidFill>
                <a:latin typeface="Arial"/>
                <a:ea typeface="Arial"/>
                <a:cs typeface="Arial"/>
              </a:defRPr>
            </a:pPr>
            <a:r>
              <a:rPr sz="3450" b="1" u="sng">
                <a:solidFill>
                  <a:srgbClr val="007780"/>
                </a:solidFill>
                <a:latin typeface="Arial"/>
                <a:ea typeface="Arial"/>
                <a:cs typeface="Arial"/>
                <a:hlinkClick xmlns:r="http://schemas.openxmlformats.org/officeDocument/2006/relationships" r:id="R55db82dd36d24043"/>
              </a:rPr>
              <a:t>BioMCP</a:t>
            </a:r>
          </a:p>
        </p:txBody>
      </p:sp>
      <p:sp>
        <p:nvSpPr>
          <p:cNvPr id="5" name="">
            <a:extLst xmlns:a="http://schemas.openxmlformats.org/drawingml/2006/main">
              <a:ext uri="{FF2B5EF4-FFF2-40B4-BE49-F238E27FC236}">
                <a16:creationId xmlns:a16="http://schemas.microsoft.com/office/drawing/2014/main" id="{7A581356-D03E-44CC-9691-012AB9B4F303}"/>
              </a:ext>
            </a:extLst>
          </p:cNvPr>
          <p:cNvSpPr>
            <a:spLocks xmlns:a="http://schemas.openxmlformats.org/drawingml/2006/main" noGrp="1"/>
          </p:cNvSpPr>
          <p:nvPr/>
        </p:nvSpPr>
        <p:spPr>
          <a:xfrm xmlns:a="http://schemas.openxmlformats.org/drawingml/2006/main">
            <a:off x="809625" y="3810000"/>
            <a:ext cx="13430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83C41"/>
                </a:solidFill>
                <a:latin typeface="Arial"/>
                <a:ea typeface="Arial"/>
                <a:cs typeface="Arial"/>
              </a:defRPr>
            </a:pPr>
            <a:r>
              <a:rPr sz="2700" b="0">
                <a:solidFill>
                  <a:srgbClr val="183C41"/>
                </a:solidFill>
                <a:latin typeface="Arial"/>
                <a:ea typeface="Arial"/>
                <a:cs typeface="Arial"/>
              </a:rPr>
              <a:t>Search biomedical papers and retrieve article records.</a:t>
            </a:r>
          </a:p>
          <a:p xmlns:a="http://schemas.openxmlformats.org/drawingml/2006/main">
            <a:pPr>
              <a:defRPr sz="2700" b="0">
                <a:solidFill>
                  <a:srgbClr val="183C41"/>
                </a:solidFill>
                <a:latin typeface="Arial"/>
                <a:ea typeface="Arial"/>
                <a:cs typeface="Arial"/>
              </a:defRPr>
            </a:pPr>
            <a:r>
              <a:rPr sz="2700" b="0">
                <a:solidFill>
                  <a:srgbClr val="183C41"/>
                </a:solidFill>
                <a:latin typeface="Arial"/>
                <a:ea typeface="Arial"/>
                <a:cs typeface="Arial"/>
              </a:rPr>
              <a:t>Sources include PubMed and Europe PMC.</a:t>
            </a:r>
          </a:p>
          <a:p xmlns:a="http://schemas.openxmlformats.org/drawingml/2006/main">
            <a:pPr>
              <a:defRPr sz="2700" b="0">
                <a:solidFill>
                  <a:srgbClr val="183C41"/>
                </a:solidFill>
                <a:latin typeface="Arial"/>
                <a:ea typeface="Arial"/>
                <a:cs typeface="Arial"/>
              </a:defRPr>
            </a:pPr>
            <a:r>
              <a:rPr sz="2700" b="0">
                <a:solidFill>
                  <a:srgbClr val="183C41"/>
                </a:solidFill>
                <a:latin typeface="Arial"/>
                <a:ea typeface="Arial"/>
                <a:cs typeface="Arial"/>
              </a:rPr>
              <a:t>Full-text availability depends on the source and access rights.</a:t>
            </a:r>
          </a:p>
        </p:txBody>
      </p:sp>
      <p:sp>
        <p:nvSpPr>
          <p:cNvPr id="6" name="">
            <a:extLst xmlns:a="http://schemas.openxmlformats.org/drawingml/2006/main">
              <a:ext uri="{FF2B5EF4-FFF2-40B4-BE49-F238E27FC236}">
                <a16:creationId xmlns:a16="http://schemas.microsoft.com/office/drawing/2014/main" id="{25B9E086-1A6D-4C35-B710-4C33F46F320F}"/>
              </a:ext>
            </a:extLst>
          </p:cNvPr>
          <p:cNvSpPr>
            <a:spLocks xmlns:a="http://schemas.openxmlformats.org/drawingml/2006/main" noGrp="1"/>
          </p:cNvSpPr>
          <p:nvPr/>
        </p:nvSpPr>
        <p:spPr>
          <a:xfrm xmlns:a="http://schemas.openxmlformats.org/drawingml/2006/main">
            <a:off x="809625" y="6096000"/>
            <a:ext cx="1352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83C41"/>
                </a:solidFill>
                <a:latin typeface="Arial"/>
                <a:ea typeface="Arial"/>
                <a:cs typeface="Arial"/>
              </a:defRPr>
            </a:pPr>
            <a:r>
              <a:rPr sz="2475" b="0">
                <a:solidFill>
                  <a:srgbClr val="183C41"/>
                </a:solidFill>
                <a:latin typeface="Arial"/>
                <a:ea typeface="Arial"/>
                <a:cs typeface="Arial"/>
              </a:rPr>
              <a:t>A local or hosted MCP server makes those tools available to the agent.</a:t>
            </a:r>
          </a:p>
          <a:p xmlns:a="http://schemas.openxmlformats.org/drawingml/2006/main">
            <a:pPr>
              <a:defRPr sz="2475" b="0">
                <a:solidFill>
                  <a:srgbClr val="183C41"/>
                </a:solidFill>
                <a:latin typeface="Arial"/>
                <a:ea typeface="Arial"/>
                <a:cs typeface="Arial"/>
              </a:defRPr>
            </a:pPr>
            <a:r>
              <a:rPr sz="2475" b="0">
                <a:solidFill>
                  <a:srgbClr val="183C41"/>
                </a:solidFill>
                <a:latin typeface="Arial"/>
                <a:ea typeface="Arial"/>
                <a:cs typeface="Arial"/>
              </a:rPr>
              <a:t>Follow the client setup guide and test a known paper first.</a:t>
            </a:r>
          </a:p>
        </p:txBody>
      </p:sp>
      <p:sp>
        <p:nvSpPr>
          <p:cNvPr id="7" name="">
            <a:extLst xmlns:a="http://schemas.openxmlformats.org/drawingml/2006/main">
              <a:ext uri="{FF2B5EF4-FFF2-40B4-BE49-F238E27FC236}">
                <a16:creationId xmlns:a16="http://schemas.microsoft.com/office/drawing/2014/main" id="{422D50CE-9A92-432D-8FF3-1BBA60DB8F89}"/>
              </a:ext>
            </a:extLst>
          </p:cNvPr>
          <p:cNvSpPr>
            <a:spLocks xmlns:a="http://schemas.openxmlformats.org/drawingml/2006/main" noGrp="1"/>
          </p:cNvSpPr>
          <p:nvPr/>
        </p:nvSpPr>
        <p:spPr>
          <a:xfrm xmlns:a="http://schemas.openxmlformats.org/drawingml/2006/main">
            <a:off x="809625" y="7810500"/>
            <a:ext cx="1352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A71"/>
                </a:solidFill>
                <a:latin typeface="Arial"/>
                <a:ea typeface="Arial"/>
                <a:cs typeface="Arial"/>
              </a:defRPr>
            </a:pPr>
            <a:r>
              <a:rPr sz="1950" b="0" u="sng">
                <a:solidFill>
                  <a:srgbClr val="526A71"/>
                </a:solidFill>
                <a:latin typeface="Arial"/>
                <a:ea typeface="Arial"/>
                <a:cs typeface="Arial"/>
                <a:hlinkClick xmlns:r="http://schemas.openxmlformats.org/officeDocument/2006/relationships" r:id="Rb49eaf871818488c"/>
              </a:rPr>
              <a:t>Setup: biomcp.org/getting-started/mcp-clients/</a:t>
            </a:r>
          </a:p>
        </p:txBody>
      </p:sp>
    </p:spTree>
    <p:extLst>
      <p:ext uri="{BB962C8B-B14F-4D97-AF65-F5344CB8AC3E}">
        <p14:creationId xmlns:p14="http://schemas.microsoft.com/office/powerpoint/2010/main" val="7289899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BD6A18-D1FD-4D1A-B4D3-703DFF7862F1}"/>
              </a:ext>
            </a:extLst>
          </p:cNvPr>
          <p:cNvSpPr>
            <a:spLocks xmlns:a="http://schemas.openxmlformats.org/drawingml/2006/main" noGrp="1"/>
          </p:cNvSpPr>
          <p:nvPr/>
        </p:nvSpPr>
        <p:spPr>
          <a:xfrm xmlns:a="http://schemas.openxmlformats.org/drawingml/2006/main">
            <a:off x="781050" y="457200"/>
            <a:ext cx="1352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83C41"/>
                </a:solidFill>
                <a:latin typeface="Arial"/>
                <a:ea typeface="Arial"/>
                <a:cs typeface="Arial"/>
              </a:defRPr>
            </a:pPr>
            <a:r>
              <a:rPr sz="4275" b="1">
                <a:solidFill>
                  <a:srgbClr val="183C41"/>
                </a:solidFill>
                <a:latin typeface="Arial"/>
                <a:ea typeface="Arial"/>
                <a:cs typeface="Arial"/>
              </a:rPr>
              <a:t>A literature task to try</a:t>
            </a:r>
          </a:p>
        </p:txBody>
      </p:sp>
      <p:sp>
        <p:nvSpPr>
          <p:cNvPr id="2" name="">
            <a:extLst xmlns:a="http://schemas.openxmlformats.org/drawingml/2006/main">
              <a:ext uri="{FF2B5EF4-FFF2-40B4-BE49-F238E27FC236}">
                <a16:creationId xmlns:a16="http://schemas.microsoft.com/office/drawing/2014/main" id="{6A56F7B9-1985-48A8-9B6B-8DF053C8504E}"/>
              </a:ext>
            </a:extLst>
          </p:cNvPr>
          <p:cNvSpPr>
            <a:spLocks xmlns:a="http://schemas.openxmlformats.org/drawingml/2006/main" noGrp="1"/>
          </p:cNvSpPr>
          <p:nvPr/>
        </p:nvSpPr>
        <p:spPr>
          <a:xfrm xmlns:a="http://schemas.openxmlformats.org/drawingml/2006/main">
            <a:off x="14192250" y="8143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A71"/>
                </a:solidFill>
                <a:latin typeface="Arial"/>
                <a:ea typeface="Arial"/>
                <a:cs typeface="Arial"/>
              </a:defRPr>
            </a:pPr>
            <a:r>
              <a:rPr sz="1350" b="0">
                <a:solidFill>
                  <a:srgbClr val="526A71"/>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9618F4FF-E989-4830-84C8-92A4F0AB8E71}"/>
              </a:ext>
            </a:extLst>
          </p:cNvPr>
          <p:cNvSpPr>
            <a:spLocks xmlns:a="http://schemas.openxmlformats.org/drawingml/2006/main" noGrp="1"/>
          </p:cNvSpPr>
          <p:nvPr/>
        </p:nvSpPr>
        <p:spPr>
          <a:xfrm xmlns:a="http://schemas.openxmlformats.org/drawingml/2006/main">
            <a:off x="809625" y="1619250"/>
            <a:ext cx="1352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780"/>
                </a:solidFill>
                <a:latin typeface="Arial"/>
                <a:ea typeface="Arial"/>
                <a:cs typeface="Arial"/>
              </a:defRPr>
            </a:pPr>
            <a:r>
              <a:rPr sz="2850" b="1">
                <a:solidFill>
                  <a:srgbClr val="007780"/>
                </a:solidFill>
                <a:latin typeface="Arial"/>
                <a:ea typeface="Arial"/>
                <a:cs typeface="Arial"/>
              </a:rPr>
              <a:t>A skill guides the workflow. An MCP tool retrieves the evidence.</a:t>
            </a:r>
          </a:p>
        </p:txBody>
      </p:sp>
      <p:sp>
        <p:nvSpPr>
          <p:cNvPr id="4" name="">
            <a:extLst xmlns:a="http://schemas.openxmlformats.org/drawingml/2006/main">
              <a:ext uri="{FF2B5EF4-FFF2-40B4-BE49-F238E27FC236}">
                <a16:creationId xmlns:a16="http://schemas.microsoft.com/office/drawing/2014/main" id="{00DC0E3E-08A5-4849-A316-69229B4D61F9}"/>
              </a:ext>
            </a:extLst>
          </p:cNvPr>
          <p:cNvSpPr>
            <a:spLocks xmlns:a="http://schemas.openxmlformats.org/drawingml/2006/main" noGrp="1"/>
          </p:cNvSpPr>
          <p:nvPr/>
        </p:nvSpPr>
        <p:spPr>
          <a:xfrm xmlns:a="http://schemas.openxmlformats.org/drawingml/2006/main">
            <a:off x="809625" y="2857500"/>
            <a:ext cx="13620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C41"/>
                </a:solidFill>
                <a:latin typeface="Arial"/>
                <a:ea typeface="Arial"/>
                <a:cs typeface="Arial"/>
              </a:defRPr>
            </a:pPr>
            <a:r>
              <a:rPr sz="2625" b="0">
                <a:solidFill>
                  <a:srgbClr val="183C41"/>
                </a:solidFill>
                <a:latin typeface="Arial"/>
                <a:ea typeface="Arial"/>
                <a:cs typeface="Arial"/>
              </a:rPr>
              <a:t>“Find up to five primary studies on CD8 T-cell activation</a:t>
            </a:r>
          </a:p>
          <a:p xmlns:a="http://schemas.openxmlformats.org/drawingml/2006/main">
            <a:pPr>
              <a:defRPr sz="2625" b="0">
                <a:solidFill>
                  <a:srgbClr val="183C41"/>
                </a:solidFill>
                <a:latin typeface="Arial"/>
                <a:ea typeface="Arial"/>
                <a:cs typeface="Arial"/>
              </a:defRPr>
            </a:pPr>
            <a:r>
              <a:rPr sz="2625" b="0">
                <a:solidFill>
                  <a:srgbClr val="183C41"/>
                </a:solidFill>
                <a:latin typeface="Arial"/>
                <a:ea typeface="Arial"/>
                <a:cs typeface="Arial"/>
              </a:rPr>
              <a:t>measured by flow cytometry in human samples.</a:t>
            </a:r>
          </a:p>
          <a:p xmlns:a="http://schemas.openxmlformats.org/drawingml/2006/main">
            <a:pPr>
              <a:defRPr sz="2625" b="0">
                <a:solidFill>
                  <a:srgbClr val="183C41"/>
                </a:solidFill>
                <a:latin typeface="Arial"/>
                <a:ea typeface="Arial"/>
                <a:cs typeface="Arial"/>
              </a:defRPr>
            </a:pPr>
            <a:r>
              <a:rPr sz="2625" b="0">
                <a:solidFill>
                  <a:srgbClr val="183C41"/>
                </a:solidFill>
                <a:latin typeface="Arial"/>
                <a:ea typeface="Arial"/>
                <a:cs typeface="Arial"/>
              </a:rPr>
              <a:t>Use the connected literature tool and record the search.</a:t>
            </a:r>
          </a:p>
          <a:p xmlns:a="http://schemas.openxmlformats.org/drawingml/2006/main">
            <a:pPr>
              <a:defRPr sz="2625" b="0">
                <a:solidFill>
                  <a:srgbClr val="183C41"/>
                </a:solidFill>
                <a:latin typeface="Arial"/>
                <a:ea typeface="Arial"/>
                <a:cs typeface="Arial"/>
              </a:defRPr>
            </a:pPr>
            <a:r>
              <a:rPr sz="2625" b="0">
                <a:solidFill>
                  <a:srgbClr val="183C41"/>
                </a:solidFill>
                <a:latin typeface="Arial"/>
                <a:ea typeface="Arial"/>
                <a:cs typeface="Arial"/>
              </a:rPr>
              <a:t>For each paper, report its DOI or PMID, study system,</a:t>
            </a:r>
          </a:p>
          <a:p xmlns:a="http://schemas.openxmlformats.org/drawingml/2006/main">
            <a:pPr>
              <a:defRPr sz="2625" b="0">
                <a:solidFill>
                  <a:srgbClr val="183C41"/>
                </a:solidFill>
                <a:latin typeface="Arial"/>
                <a:ea typeface="Arial"/>
                <a:cs typeface="Arial"/>
              </a:defRPr>
            </a:pPr>
            <a:r>
              <a:rPr sz="2625" b="0">
                <a:solidFill>
                  <a:srgbClr val="183C41"/>
                </a:solidFill>
                <a:latin typeface="Arial"/>
                <a:ea typeface="Arial"/>
                <a:cs typeface="Arial"/>
              </a:rPr>
              <a:t>markers, sample size and a source passage.</a:t>
            </a:r>
          </a:p>
          <a:p xmlns:a="http://schemas.openxmlformats.org/drawingml/2006/main">
            <a:pPr>
              <a:defRPr sz="2625" b="0">
                <a:solidFill>
                  <a:srgbClr val="183C41"/>
                </a:solidFill>
                <a:latin typeface="Arial"/>
                <a:ea typeface="Arial"/>
                <a:cs typeface="Arial"/>
              </a:defRPr>
            </a:pPr>
            <a:r>
              <a:rPr sz="2625" b="0">
                <a:solidFill>
                  <a:srgbClr val="183C41"/>
                </a:solidFill>
                <a:latin typeface="Arial"/>
                <a:ea typeface="Arial"/>
                <a:cs typeface="Arial"/>
              </a:rPr>
              <a:t>Mark fields you cannot verify and distinguish abstracts</a:t>
            </a:r>
          </a:p>
          <a:p xmlns:a="http://schemas.openxmlformats.org/drawingml/2006/main">
            <a:pPr>
              <a:defRPr sz="2625" b="0">
                <a:solidFill>
                  <a:srgbClr val="183C41"/>
                </a:solidFill>
                <a:latin typeface="Arial"/>
                <a:ea typeface="Arial"/>
                <a:cs typeface="Arial"/>
              </a:defRPr>
            </a:pPr>
            <a:r>
              <a:rPr sz="2625" b="0">
                <a:solidFill>
                  <a:srgbClr val="183C41"/>
                </a:solidFill>
                <a:latin typeface="Arial"/>
                <a:ea typeface="Arial"/>
                <a:cs typeface="Arial"/>
              </a:rPr>
              <a:t>from full-text evidence. Save an evidence table.”</a:t>
            </a:r>
          </a:p>
        </p:txBody>
      </p:sp>
      <p:sp>
        <p:nvSpPr>
          <p:cNvPr id="5" name="">
            <a:extLst xmlns:a="http://schemas.openxmlformats.org/drawingml/2006/main">
              <a:ext uri="{FF2B5EF4-FFF2-40B4-BE49-F238E27FC236}">
                <a16:creationId xmlns:a16="http://schemas.microsoft.com/office/drawing/2014/main" id="{6B8F5068-9B48-4B15-B037-07FA40C8B0F4}"/>
              </a:ext>
            </a:extLst>
          </p:cNvPr>
          <p:cNvSpPr>
            <a:spLocks xmlns:a="http://schemas.openxmlformats.org/drawingml/2006/main" noGrp="1"/>
          </p:cNvSpPr>
          <p:nvPr/>
        </p:nvSpPr>
        <p:spPr>
          <a:xfrm xmlns:a="http://schemas.openxmlformats.org/drawingml/2006/main">
            <a:off x="809625" y="6953250"/>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83C41"/>
                </a:solidFill>
                <a:latin typeface="Arial"/>
                <a:ea typeface="Arial"/>
                <a:cs typeface="Arial"/>
              </a:defRPr>
            </a:pPr>
            <a:r>
              <a:rPr sz="2700" b="1">
                <a:solidFill>
                  <a:srgbClr val="183C41"/>
                </a:solidFill>
                <a:latin typeface="Arial"/>
                <a:ea typeface="Arial"/>
                <a:cs typeface="Arial"/>
              </a:rPr>
              <a:t>Check one row against the paper before using the table.</a:t>
            </a:r>
          </a:p>
        </p:txBody>
      </p:sp>
      <p:sp>
        <p:nvSpPr>
          <p:cNvPr id="6" name="">
            <a:extLst xmlns:a="http://schemas.openxmlformats.org/drawingml/2006/main">
              <a:ext uri="{FF2B5EF4-FFF2-40B4-BE49-F238E27FC236}">
                <a16:creationId xmlns:a16="http://schemas.microsoft.com/office/drawing/2014/main" id="{F8D4B70C-F63F-4FA3-8B7C-6D6A30801481}"/>
              </a:ext>
            </a:extLst>
          </p:cNvPr>
          <p:cNvSpPr>
            <a:spLocks xmlns:a="http://schemas.openxmlformats.org/drawingml/2006/main" noGrp="1"/>
          </p:cNvSpPr>
          <p:nvPr/>
        </p:nvSpPr>
        <p:spPr>
          <a:xfrm xmlns:a="http://schemas.openxmlformats.org/drawingml/2006/main">
            <a:off x="809625" y="7905750"/>
            <a:ext cx="1333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A71"/>
                </a:solidFill>
                <a:latin typeface="Arial"/>
                <a:ea typeface="Arial"/>
                <a:cs typeface="Arial"/>
              </a:defRPr>
            </a:pPr>
            <a:r>
              <a:rPr sz="1950" b="0" u="sng">
                <a:solidFill>
                  <a:srgbClr val="526A71"/>
                </a:solidFill>
                <a:latin typeface="Arial"/>
                <a:ea typeface="Arial"/>
                <a:cs typeface="Arial"/>
                <a:hlinkClick xmlns:r="http://schemas.openxmlformats.org/officeDocument/2006/relationships" r:id="R701feedaa8e94f5f"/>
              </a:rPr>
              <a:t>Workshop resources and copyable prompt</a:t>
            </a:r>
          </a:p>
        </p:txBody>
      </p:sp>
    </p:spTree>
    <p:extLst>
      <p:ext uri="{BB962C8B-B14F-4D97-AF65-F5344CB8AC3E}">
        <p14:creationId xmlns:p14="http://schemas.microsoft.com/office/powerpoint/2010/main" val="1915249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2026-09-17T09:23:00.0530000Z</dcterms:created>
  <dcterms:modified xsi:type="dcterms:W3CDTF">2026-09-17T09:23:00.0530000Z</dcterms:modified>
</coreProperties>
</file>