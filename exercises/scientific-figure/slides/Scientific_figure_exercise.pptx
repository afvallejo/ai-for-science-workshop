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5f31b6b47fe4847" /><Relationship Type="http://schemas.openxmlformats.org/officeDocument/2006/relationships/extended-properties" Target="/docProps/app.xml" Id="R4c1ca2c243724497" /><Relationship Type="http://schemas.openxmlformats.org/officeDocument/2006/relationships/officeDocument" Target="/ppt/presentation.xml" Id="R81a5804146fb4d84" /></Relationships>
</file>

<file path=ppt/presentation.xml><?xml version="1.0" encoding="utf-8"?>
<p:presentation xmlns:p="http://schemas.openxmlformats.org/presentationml/2006/main">
  <p:sldMasterIdLst>
    <p:sldMasterId xmlns:r="http://schemas.openxmlformats.org/officeDocument/2006/relationships" id="2147483648" r:id="R3d0c481be48c418c"/>
  </p:sldMasterIdLst>
  <p:notesMasterIdLst>
    <p:notesMasterId xmlns:r="http://schemas.openxmlformats.org/officeDocument/2006/relationships" r:id="Rf92bfd9f29044ab5"/>
  </p:notesMasterIdLst>
  <p:sldIdLst>
    <p:sldId xmlns:r="http://schemas.openxmlformats.org/officeDocument/2006/relationships" id="256" r:id="R0a902a3240264f69"/>
    <p:sldId xmlns:r="http://schemas.openxmlformats.org/officeDocument/2006/relationships" id="257" r:id="R9146e5224a1d41a1"/>
    <p:sldId xmlns:r="http://schemas.openxmlformats.org/officeDocument/2006/relationships" id="258" r:id="R380a9d6cf04546dd"/>
    <p:sldId xmlns:r="http://schemas.openxmlformats.org/officeDocument/2006/relationships" id="259" r:id="R339d3951ab194853"/>
    <p:sldId xmlns:r="http://schemas.openxmlformats.org/officeDocument/2006/relationships" id="260" r:id="Rd54c213f96fe4b90"/>
    <p:sldId xmlns:r="http://schemas.openxmlformats.org/officeDocument/2006/relationships" id="261" r:id="R248a93ed416f40d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16b2ad8900d41f9" /><Relationship Type="http://schemas.openxmlformats.org/officeDocument/2006/relationships/slideMaster" Target="/ppt/slideMasters/slideMaster1.xml" Id="R3d0c481be48c418c" /><Relationship Type="http://schemas.openxmlformats.org/officeDocument/2006/relationships/notesMaster" Target="/ppt/notesMasters/notesMaster1.xml" Id="Rf92bfd9f29044ab5" /><Relationship Type="http://schemas.openxmlformats.org/officeDocument/2006/relationships/presProps" Target="/ppt/presProps.xml" Id="Rdcfc2c4743104b02" /><Relationship Type="http://schemas.openxmlformats.org/officeDocument/2006/relationships/tableStyles" Target="/ppt/tableStyles.xml" Id="R6602082d4c294383" /><Relationship Type="http://schemas.openxmlformats.org/officeDocument/2006/relationships/slide" Target="/ppt/slides/slide1.xml" Id="R0a902a3240264f69" /><Relationship Type="http://schemas.openxmlformats.org/officeDocument/2006/relationships/slide" Target="/ppt/slides/slide2.xml" Id="R9146e5224a1d41a1" /><Relationship Type="http://schemas.openxmlformats.org/officeDocument/2006/relationships/slide" Target="/ppt/slides/slide3.xml" Id="R380a9d6cf04546dd" /><Relationship Type="http://schemas.openxmlformats.org/officeDocument/2006/relationships/slide" Target="/ppt/slides/slide4.xml" Id="R339d3951ab194853" /><Relationship Type="http://schemas.openxmlformats.org/officeDocument/2006/relationships/slide" Target="/ppt/slides/slide5.xml" Id="Rd54c213f96fe4b90" /><Relationship Type="http://schemas.openxmlformats.org/officeDocument/2006/relationships/slide" Target="/ppt/slides/slide6.xml" Id="R248a93ed416f40d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abb5931f8d04cb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8e0394db54f4992" /><Relationship Type="http://schemas.openxmlformats.org/officeDocument/2006/relationships/notesMaster" Target="/ppt/notesMasters/notesMaster1.xml" Id="R45751e5841124f20" /></Relationships>
</file>

<file path=ppt/notesSlides/_rels/notesSlide2.xml.rels>&#65279;<?xml version="1.0" encoding="utf-8"?><Relationships xmlns="http://schemas.openxmlformats.org/package/2006/relationships"><Relationship Type="http://schemas.openxmlformats.org/officeDocument/2006/relationships/slide" Target="/ppt/slides/slide2.xml" Id="R14b228430a0e45aa" /><Relationship Type="http://schemas.openxmlformats.org/officeDocument/2006/relationships/notesMaster" Target="/ppt/notesMasters/notesMaster1.xml" Id="Rf734c736d6c34f15" /></Relationships>
</file>

<file path=ppt/notesSlides/_rels/notesSlide3.xml.rels>&#65279;<?xml version="1.0" encoding="utf-8"?><Relationships xmlns="http://schemas.openxmlformats.org/package/2006/relationships"><Relationship Type="http://schemas.openxmlformats.org/officeDocument/2006/relationships/slide" Target="/ppt/slides/slide3.xml" Id="R8d21ad3bcbbc415e" /><Relationship Type="http://schemas.openxmlformats.org/officeDocument/2006/relationships/notesMaster" Target="/ppt/notesMasters/notesMaster1.xml" Id="Re7b4455a7fde49f6" /></Relationships>
</file>

<file path=ppt/notesSlides/_rels/notesSlide4.xml.rels>&#65279;<?xml version="1.0" encoding="utf-8"?><Relationships xmlns="http://schemas.openxmlformats.org/package/2006/relationships"><Relationship Type="http://schemas.openxmlformats.org/officeDocument/2006/relationships/slide" Target="/ppt/slides/slide4.xml" Id="R5fd747e596704e4d" /><Relationship Type="http://schemas.openxmlformats.org/officeDocument/2006/relationships/notesMaster" Target="/ppt/notesMasters/notesMaster1.xml" Id="R85f3f7d42b5946c1" /></Relationships>
</file>

<file path=ppt/notesSlides/_rels/notesSlide5.xml.rels>&#65279;<?xml version="1.0" encoding="utf-8"?><Relationships xmlns="http://schemas.openxmlformats.org/package/2006/relationships"><Relationship Type="http://schemas.openxmlformats.org/officeDocument/2006/relationships/slide" Target="/ppt/slides/slide5.xml" Id="Rc49a10e9e2754576" /><Relationship Type="http://schemas.openxmlformats.org/officeDocument/2006/relationships/notesMaster" Target="/ppt/notesMasters/notesMaster1.xml" Id="Rb9adb4fe0f1b42a2" /></Relationships>
</file>

<file path=ppt/notesSlides/_rels/notesSlide6.xml.rels>&#65279;<?xml version="1.0" encoding="utf-8"?><Relationships xmlns="http://schemas.openxmlformats.org/package/2006/relationships"><Relationship Type="http://schemas.openxmlformats.org/officeDocument/2006/relationships/slide" Target="/ppt/slides/slide6.xml" Id="Ra5c4bb5de6b34730" /><Relationship Type="http://schemas.openxmlformats.org/officeDocument/2006/relationships/notesMaster" Target="/ppt/notesMasters/notesMaster1.xml" Id="R2179bc9930c14b4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participant/START_HERE.md. Timing: setup 3 minutes, naïve 6, advanced 6, plan and execution 10, comparison 5. Open each round as a separate project and fresh task. Keep model, reasoning effort and permissions fixed. These are learning activities, not a controlled model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participant/round_1_naive/data.csv and study_context.md. Four conditions are Vehicle and Compound_X crossed with Unstimulated and Stimulated. Average two technical aliquots per culture. Match treatment values by donor ID. The denominator is live singlet CD3+CD8+ T cells. Use descriptive results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data.csv and study_context.md to make a scientific figure showing how Compound_X affects CD8 T-cell activation with and without stimulation. Save the figure and the files requested in study_context.md in outputs/.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copyable prompt is in participant/round_2_advanced/PROMPT.txt. Slide text is a summary.</a:t>
            </a:r>
          </a:p>
          <a:p xmlns:a="http://schemas.openxmlformats.org/drawingml/2006/main">
            <a:r>
              <a:t/>
            </a:r>
          </a:p>
          <a:p xmlns:a="http://schemas.openxmlformats.org/drawingml/2006/main">
            <a:r>
              <a:t>Read data.csv and study_context.md. Create a descriptive scientific figure answering the stated treatment question separately for Unstimulated and Stimulated conditions.</a:t>
            </a:r>
          </a:p>
          <a:p xmlns:a="http://schemas.openxmlformats.org/drawingml/2006/main">
            <a:r>
              <a:t/>
            </a:r>
          </a:p>
          <a:p xmlns:a="http://schemas.openxmlformats.org/drawingml/2006/main">
            <a:r>
              <a:t>Before plotting, check the columns, missing values, unique measurement keys, donor coverage and value ranges. Expect 80 technical measurements from 40 cultures and 10 donors, with exactly two technical aliquots per culture. If the files disagree with the context, report the discrepancy before analysis.</a:t>
            </a:r>
          </a:p>
          <a:p xmlns:a="http://schemas.openxmlformats.org/drawingml/2006/main">
            <a:r>
              <a:t/>
            </a:r>
          </a:p>
          <a:p xmlns:a="http://schemas.openxmlformats.org/drawingml/2006/main">
            <a:r>
              <a:t>Use the arithmetic mean of the two aliquots as each culture's endpoint. Match conditions by donor_id. Show all 10 donor endpoints and make treatment pairing visible within each stimulation condition. If you plot treatment differences, use Compound_X minus Vehicle in percentage points. Keep stimulation conditions separate and give donors equal weight. Use descriptive summaries only, without hypothesis tests or significance stars.</a:t>
            </a:r>
          </a:p>
          <a:p xmlns:a="http://schemas.openxmlformats.org/drawingml/2006/main">
            <a:r>
              <a:t/>
            </a:r>
          </a:p>
          <a:p xmlns:a="http://schemas.openxmlformats.org/drawingml/2006/main">
            <a:r>
              <a:t>Choose a readable layout with labelled axes, units, a clear key and colours that remain distinguishable without colour alone. State the CD8 parent population, n=10 simulated donors, technical aggregation and synthetic origin in the legend. Use a conventional plotting library and generate the figure from the supplied numbers.</a:t>
            </a:r>
          </a:p>
          <a:p xmlns:a="http://schemas.openxmlformats.org/drawingml/2006/main">
            <a:r>
              <a:t/>
            </a:r>
          </a:p>
          <a:p xmlns:a="http://schemas.openxmlformats.org/drawingml/2006/main">
            <a:r>
              <a:t>Save figure.pdf, figure.png, plot_data.csv with all 40 culture endpoints, executable plotting code, figure_legend.md, software versions and the exact regeneration command in outputs/. Keep inputs unchanged. Do not invent metadata, exclude donors, install packages or use an external service. If a required tool is unavailable, report what is missing.</a:t>
            </a:r>
          </a:p>
          <a:p xmlns:a="http://schemas.openxmlformats.org/drawingml/2006/main">
            <a:r>
              <a:t/>
            </a:r>
          </a:p>
          <a:p xmlns:a="http://schemas.openxmlformats.org/drawingml/2006/main">
            <a:r>
              <a:t>Run the code, open the rendered figure and check labels, pairing, units and readability. Reopen the saved table, verify its values against the input and regenerate into a separate directory. Report what you actually checked and anything that remains unverified.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native Plan mode if available. Otherwise use the prompt's manual planning pause and record that distinction. Do not silently call a manual pause native Plan mode. After reviewing the plan, choose implement/execute or return to execution mode and send the approval text in START_HERE.md. Record unfinished work if time expires.</a:t>
            </a:r>
          </a:p>
          <a:p xmlns:a="http://schemas.openxmlformats.org/drawingml/2006/main">
            <a:r>
              <a:t/>
            </a:r>
          </a:p>
          <a:p xmlns:a="http://schemas.openxmlformats.org/drawingml/2006/main">
            <a:r>
              <a:t>Plan the task below before executing it. First inspect the input files and available tools using read-only checks. Propose the data checks, aggregation, pairing, figure layout, outputs and verification steps. Explain any unresolved scientific decisions. Do not create files or run the analysis yet. Stop and wait for my review of the plan.</a:t>
            </a:r>
          </a:p>
          <a:p xmlns:a="http://schemas.openxmlformats.org/drawingml/2006/main">
            <a:r>
              <a:t/>
            </a:r>
          </a:p>
          <a:p xmlns:a="http://schemas.openxmlformats.org/drawingml/2006/main">
            <a:r>
              <a:t>Read data.csv and study_context.md. Create a descriptive scientific figure answering the stated treatment question separately for Unstimulated and Stimulated conditions.</a:t>
            </a:r>
          </a:p>
          <a:p xmlns:a="http://schemas.openxmlformats.org/drawingml/2006/main">
            <a:r>
              <a:t/>
            </a:r>
          </a:p>
          <a:p xmlns:a="http://schemas.openxmlformats.org/drawingml/2006/main">
            <a:r>
              <a:t>Before plotting, check the columns, missing values, unique measurement keys, donor coverage and value ranges. Expect 80 technical measurements from 40 cultures and 10 donors, with exactly two technical aliquots per culture. If the files disagree with the context, report the discrepancy before analysis.</a:t>
            </a:r>
          </a:p>
          <a:p xmlns:a="http://schemas.openxmlformats.org/drawingml/2006/main">
            <a:r>
              <a:t/>
            </a:r>
          </a:p>
          <a:p xmlns:a="http://schemas.openxmlformats.org/drawingml/2006/main">
            <a:r>
              <a:t>Use the arithmetic mean of the two aliquots as each culture's endpoint. Match conditions by donor_id. Show all 10 donor endpoints and make treatment pairing visible within each stimulation condition. If you plot treatment differences, use Compound_X minus Vehicle in percentage points. Keep stimulation conditions separate and give donors equal weight. Use descriptive summaries only, without hypothesis tests or significance stars.</a:t>
            </a:r>
          </a:p>
          <a:p xmlns:a="http://schemas.openxmlformats.org/drawingml/2006/main">
            <a:r>
              <a:t/>
            </a:r>
          </a:p>
          <a:p xmlns:a="http://schemas.openxmlformats.org/drawingml/2006/main">
            <a:r>
              <a:t>Choose a readable layout with labelled axes, units, a clear key and colours that remain distinguishable without colour alone. State the CD8 parent population, n=10 simulated donors, technical aggregation and synthetic origin in the legend. Use a conventional plotting library and generate the figure from the supplied numbers.</a:t>
            </a:r>
          </a:p>
          <a:p xmlns:a="http://schemas.openxmlformats.org/drawingml/2006/main">
            <a:r>
              <a:t/>
            </a:r>
          </a:p>
          <a:p xmlns:a="http://schemas.openxmlformats.org/drawingml/2006/main">
            <a:r>
              <a:t>Save figure.pdf, figure.png, plot_data.csv with all 40 culture endpoints, executable plotting code, figure_legend.md, software versions and the exact regeneration command in outputs/. Keep inputs unchanged. Do not invent metadata, exclude donors, install packages or use an external service. If a required tool is unavailable, report what is missing.</a:t>
            </a:r>
          </a:p>
          <a:p xmlns:a="http://schemas.openxmlformats.org/drawingml/2006/main">
            <a:r>
              <a:t/>
            </a:r>
          </a:p>
          <a:p xmlns:a="http://schemas.openxmlformats.org/drawingml/2006/main">
            <a:r>
              <a:t>Run the code, open the rendered figure and check labels, pairing, units and readability. Reopen the saved table, verify its values against the input and regenerate into a separate directory. Report what you actually checked and anything that remains unverified.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different correct layouts. Do not assume the naïve round is wrong or that Plan mode succeeds. Compare scientific correctness before visual preference. Show facilitator/reference_outputs/figure.png only after the exercise if helpful. The reference is a separate conventional plotting implementation, not an observed AI response. Longer prompts, prior practice, generation variability and unequal planning time limit comparisons.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175b8b4d200493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bee351beebb4a39" /><Relationship Type="http://schemas.openxmlformats.org/officeDocument/2006/relationships/slideLayout" Target="/ppt/slideLayouts/slideLayout1.xml" Id="R6ac68495e083475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c68495e083475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7395138f33c4c4e" /><Relationship Type="http://schemas.openxmlformats.org/officeDocument/2006/relationships/notesSlide" Target="/ppt/notesSlides/notesSlide1.xml" Id="R1e2f133ded8242d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feb55f35fa34b4e" /><Relationship Type="http://schemas.openxmlformats.org/officeDocument/2006/relationships/notesSlide" Target="/ppt/notesSlides/notesSlide2.xml" Id="Raeb80724537e4be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76ac5dc78cc4fa7" /><Relationship Type="http://schemas.openxmlformats.org/officeDocument/2006/relationships/notesSlide" Target="/ppt/notesSlides/notesSlide3.xml" Id="R12d130905a5a4f9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c500a3245784b30" /><Relationship Type="http://schemas.openxmlformats.org/officeDocument/2006/relationships/notesSlide" Target="/ppt/notesSlides/notesSlide4.xml" Id="R192cfd1dcbd8427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80fef9ccb7f4b86" /><Relationship Type="http://schemas.openxmlformats.org/officeDocument/2006/relationships/notesSlide" Target="/ppt/notesSlides/notesSlide5.xml" Id="R3dec8bddc42b4e8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7e4078f61fa4022" /><Relationship Type="http://schemas.openxmlformats.org/officeDocument/2006/relationships/notesSlide" Target="/ppt/notesSlides/notesSlide6.xml" Id="Re11d3e2f1a564d7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6782CDE-77CF-4E7F-9B08-9F2605E3D9A9}"/>
              </a:ext>
            </a:extLst>
          </p:cNvPr>
          <p:cNvSpPr>
            <a:spLocks xmlns:a="http://schemas.openxmlformats.org/drawingml/2006/main" noGrp="1"/>
          </p:cNvSpPr>
          <p:nvPr/>
        </p:nvSpPr>
        <p:spPr>
          <a:xfrm xmlns:a="http://schemas.openxmlformats.org/drawingml/2006/main">
            <a:off x="609600" y="4572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2B45"/>
                </a:solidFill>
                <a:latin typeface="Arial"/>
                <a:ea typeface="Arial"/>
                <a:cs typeface="Arial"/>
              </a:defRPr>
            </a:pPr>
            <a:r>
              <a:rPr sz="3300" b="1">
                <a:solidFill>
                  <a:srgbClr val="182B45"/>
                </a:solidFill>
                <a:latin typeface="Arial"/>
                <a:ea typeface="Arial"/>
                <a:cs typeface="Arial"/>
              </a:rPr>
              <a:t>A scientific figure in three attempts</a:t>
            </a:r>
          </a:p>
        </p:txBody>
      </p:sp>
      <p:sp>
        <p:nvSpPr>
          <p:cNvPr id="2" name="">
            <a:extLst xmlns:a="http://schemas.openxmlformats.org/drawingml/2006/main">
              <a:ext uri="{FF2B5EF4-FFF2-40B4-BE49-F238E27FC236}">
                <a16:creationId xmlns:a16="http://schemas.microsoft.com/office/drawing/2014/main" id="{648129FF-ECB6-4F56-9C08-64A4EC33D334}"/>
              </a:ext>
            </a:extLst>
          </p:cNvPr>
          <p:cNvSpPr>
            <a:spLocks xmlns:a="http://schemas.openxmlformats.org/drawingml/2006/main" noGrp="1"/>
          </p:cNvSpPr>
          <p:nvPr/>
        </p:nvSpPr>
        <p:spPr>
          <a:xfrm xmlns:a="http://schemas.openxmlformats.org/drawingml/2006/main">
            <a:off x="609600" y="604837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8717B"/>
                </a:solidFill>
                <a:latin typeface="Arial"/>
                <a:ea typeface="Arial"/>
                <a:cs typeface="Arial"/>
              </a:defRPr>
            </a:pPr>
            <a:r>
              <a:rPr sz="1725" b="0">
                <a:solidFill>
                  <a:srgbClr val="58717B"/>
                </a:solidFill>
                <a:latin typeface="Arial"/>
                <a:ea typeface="Arial"/>
                <a:cs typeface="Arial"/>
              </a:rPr>
              <a:t>30 minutes</a:t>
            </a:r>
          </a:p>
        </p:txBody>
      </p:sp>
      <p:sp>
        <p:nvSpPr>
          <p:cNvPr id="3" name="">
            <a:extLst xmlns:a="http://schemas.openxmlformats.org/drawingml/2006/main">
              <a:ext uri="{FF2B5EF4-FFF2-40B4-BE49-F238E27FC236}">
                <a16:creationId xmlns:a16="http://schemas.microsoft.com/office/drawing/2014/main" id="{EB738DFF-38D7-4D64-82E9-0F27299BDB3D}"/>
              </a:ext>
            </a:extLst>
          </p:cNvPr>
          <p:cNvSpPr>
            <a:spLocks xmlns:a="http://schemas.openxmlformats.org/drawingml/2006/main" noGrp="1"/>
          </p:cNvSpPr>
          <p:nvPr/>
        </p:nvSpPr>
        <p:spPr>
          <a:xfrm xmlns:a="http://schemas.openxmlformats.org/drawingml/2006/main">
            <a:off x="11144250" y="6048375"/>
            <a:ext cx="428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8717B"/>
                </a:solidFill>
                <a:latin typeface="Arial"/>
                <a:ea typeface="Arial"/>
                <a:cs typeface="Arial"/>
              </a:defRPr>
            </a:pPr>
            <a:r>
              <a:rPr sz="1725" b="0">
                <a:solidFill>
                  <a:srgbClr val="58717B"/>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6B6AA66F-DB10-4BCC-BCBD-42DC8A31D92D}"/>
              </a:ext>
            </a:extLst>
          </p:cNvPr>
          <p:cNvSpPr>
            <a:spLocks xmlns:a="http://schemas.openxmlformats.org/drawingml/2006/main" noGrp="1"/>
          </p:cNvSpPr>
          <p:nvPr/>
        </p:nvSpPr>
        <p:spPr>
          <a:xfrm xmlns:a="http://schemas.openxmlformats.org/drawingml/2006/main">
            <a:off x="609600" y="147637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82B45"/>
                </a:solidFill>
                <a:latin typeface="Arial"/>
                <a:ea typeface="Arial"/>
                <a:cs typeface="Arial"/>
              </a:defRPr>
            </a:pPr>
            <a:r>
              <a:rPr sz="2700" b="0">
                <a:solidFill>
                  <a:srgbClr val="182B45"/>
                </a:solidFill>
                <a:latin typeface="Arial"/>
                <a:ea typeface="Arial"/>
                <a:cs typeface="Arial"/>
              </a:rPr>
              <a:t>Same synthetic dataset. Three fresh tasks.</a:t>
            </a:r>
          </a:p>
        </p:txBody>
      </p:sp>
      <p:sp>
        <p:nvSpPr>
          <p:cNvPr id="5" name="">
            <a:extLst xmlns:a="http://schemas.openxmlformats.org/drawingml/2006/main">
              <a:ext uri="{FF2B5EF4-FFF2-40B4-BE49-F238E27FC236}">
                <a16:creationId xmlns:a16="http://schemas.microsoft.com/office/drawing/2014/main" id="{2DA5EAD0-C309-46DF-833D-0E424D06BA17}"/>
              </a:ext>
            </a:extLst>
          </p:cNvPr>
          <p:cNvSpPr>
            <a:spLocks xmlns:a="http://schemas.openxmlformats.org/drawingml/2006/main" noGrp="1"/>
          </p:cNvSpPr>
          <p:nvPr/>
        </p:nvSpPr>
        <p:spPr>
          <a:xfrm xmlns:a="http://schemas.openxmlformats.org/drawingml/2006/main">
            <a:off x="609600" y="257175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5778B"/>
                </a:solidFill>
                <a:latin typeface="Arial"/>
                <a:ea typeface="Arial"/>
                <a:cs typeface="Arial"/>
              </a:defRPr>
            </a:pPr>
            <a:r>
              <a:rPr sz="2625" b="1">
                <a:solidFill>
                  <a:srgbClr val="25778B"/>
                </a:solidFill>
                <a:latin typeface="Arial"/>
                <a:ea typeface="Arial"/>
                <a:cs typeface="Arial"/>
              </a:rPr>
              <a:t>1   Naïve prompt</a:t>
            </a:r>
          </a:p>
        </p:txBody>
      </p:sp>
      <p:sp>
        <p:nvSpPr>
          <p:cNvPr id="6" name="">
            <a:extLst xmlns:a="http://schemas.openxmlformats.org/drawingml/2006/main">
              <a:ext uri="{FF2B5EF4-FFF2-40B4-BE49-F238E27FC236}">
                <a16:creationId xmlns:a16="http://schemas.microsoft.com/office/drawing/2014/main" id="{BBCAEC69-680B-4B98-A2EE-FE98A45F2E46}"/>
              </a:ext>
            </a:extLst>
          </p:cNvPr>
          <p:cNvSpPr>
            <a:spLocks xmlns:a="http://schemas.openxmlformats.org/drawingml/2006/main" noGrp="1"/>
          </p:cNvSpPr>
          <p:nvPr/>
        </p:nvSpPr>
        <p:spPr>
          <a:xfrm xmlns:a="http://schemas.openxmlformats.org/drawingml/2006/main">
            <a:off x="609600" y="342900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5778B"/>
                </a:solidFill>
                <a:latin typeface="Arial"/>
                <a:ea typeface="Arial"/>
                <a:cs typeface="Arial"/>
              </a:defRPr>
            </a:pPr>
            <a:r>
              <a:rPr sz="2625" b="1">
                <a:solidFill>
                  <a:srgbClr val="25778B"/>
                </a:solidFill>
                <a:latin typeface="Arial"/>
                <a:ea typeface="Arial"/>
                <a:cs typeface="Arial"/>
              </a:rPr>
              <a:t>2   Advanced prompt</a:t>
            </a:r>
          </a:p>
        </p:txBody>
      </p:sp>
      <p:sp>
        <p:nvSpPr>
          <p:cNvPr id="7" name="">
            <a:extLst xmlns:a="http://schemas.openxmlformats.org/drawingml/2006/main">
              <a:ext uri="{FF2B5EF4-FFF2-40B4-BE49-F238E27FC236}">
                <a16:creationId xmlns:a16="http://schemas.microsoft.com/office/drawing/2014/main" id="{3AF82B9F-2286-4239-913A-DA44A379D976}"/>
              </a:ext>
            </a:extLst>
          </p:cNvPr>
          <p:cNvSpPr>
            <a:spLocks xmlns:a="http://schemas.openxmlformats.org/drawingml/2006/main" noGrp="1"/>
          </p:cNvSpPr>
          <p:nvPr/>
        </p:nvSpPr>
        <p:spPr>
          <a:xfrm xmlns:a="http://schemas.openxmlformats.org/drawingml/2006/main">
            <a:off x="609600" y="428625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5778B"/>
                </a:solidFill>
                <a:latin typeface="Arial"/>
                <a:ea typeface="Arial"/>
                <a:cs typeface="Arial"/>
              </a:defRPr>
            </a:pPr>
            <a:r>
              <a:rPr sz="2625" b="1">
                <a:solidFill>
                  <a:srgbClr val="25778B"/>
                </a:solidFill>
                <a:latin typeface="Arial"/>
                <a:ea typeface="Arial"/>
                <a:cs typeface="Arial"/>
              </a:rPr>
              <a:t>3   Plan mode, review and execution</a:t>
            </a:r>
          </a:p>
        </p:txBody>
      </p:sp>
    </p:spTree>
    <p:extLst>
      <p:ext uri="{BB962C8B-B14F-4D97-AF65-F5344CB8AC3E}">
        <p14:creationId xmlns:p14="http://schemas.microsoft.com/office/powerpoint/2010/main" val="68031059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305804A-7B86-4BD1-AC9E-F2E64E35F8E5}"/>
              </a:ext>
            </a:extLst>
          </p:cNvPr>
          <p:cNvSpPr>
            <a:spLocks xmlns:a="http://schemas.openxmlformats.org/drawingml/2006/main" noGrp="1"/>
          </p:cNvSpPr>
          <p:nvPr/>
        </p:nvSpPr>
        <p:spPr>
          <a:xfrm xmlns:a="http://schemas.openxmlformats.org/drawingml/2006/main">
            <a:off x="609600" y="4572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2B45"/>
                </a:solidFill>
                <a:latin typeface="Arial"/>
                <a:ea typeface="Arial"/>
                <a:cs typeface="Arial"/>
              </a:defRPr>
            </a:pPr>
            <a:r>
              <a:rPr sz="3300" b="1">
                <a:solidFill>
                  <a:srgbClr val="182B45"/>
                </a:solidFill>
                <a:latin typeface="Arial"/>
                <a:ea typeface="Arial"/>
                <a:cs typeface="Arial"/>
              </a:rPr>
              <a:t>The dataset and the question</a:t>
            </a:r>
          </a:p>
        </p:txBody>
      </p:sp>
      <p:sp>
        <p:nvSpPr>
          <p:cNvPr id="2" name="">
            <a:extLst xmlns:a="http://schemas.openxmlformats.org/drawingml/2006/main">
              <a:ext uri="{FF2B5EF4-FFF2-40B4-BE49-F238E27FC236}">
                <a16:creationId xmlns:a16="http://schemas.microsoft.com/office/drawing/2014/main" id="{3DFB41C4-D68C-4A63-A2FA-FBA36CB5A589}"/>
              </a:ext>
            </a:extLst>
          </p:cNvPr>
          <p:cNvSpPr>
            <a:spLocks xmlns:a="http://schemas.openxmlformats.org/drawingml/2006/main" noGrp="1"/>
          </p:cNvSpPr>
          <p:nvPr/>
        </p:nvSpPr>
        <p:spPr>
          <a:xfrm xmlns:a="http://schemas.openxmlformats.org/drawingml/2006/main">
            <a:off x="609600" y="604837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8717B"/>
                </a:solidFill>
                <a:latin typeface="Arial"/>
                <a:ea typeface="Arial"/>
                <a:cs typeface="Arial"/>
              </a:defRPr>
            </a:pPr>
            <a:r>
              <a:rPr sz="1725" b="0">
                <a:solidFill>
                  <a:srgbClr val="58717B"/>
                </a:solidFill>
                <a:latin typeface="Arial"/>
                <a:ea typeface="Arial"/>
                <a:cs typeface="Arial"/>
              </a:rPr>
              <a:t>Setup · 3 minutes</a:t>
            </a:r>
          </a:p>
        </p:txBody>
      </p:sp>
      <p:sp>
        <p:nvSpPr>
          <p:cNvPr id="3" name="">
            <a:extLst xmlns:a="http://schemas.openxmlformats.org/drawingml/2006/main">
              <a:ext uri="{FF2B5EF4-FFF2-40B4-BE49-F238E27FC236}">
                <a16:creationId xmlns:a16="http://schemas.microsoft.com/office/drawing/2014/main" id="{8D244431-2D03-497D-8471-46DFC9D777FE}"/>
              </a:ext>
            </a:extLst>
          </p:cNvPr>
          <p:cNvSpPr>
            <a:spLocks xmlns:a="http://schemas.openxmlformats.org/drawingml/2006/main" noGrp="1"/>
          </p:cNvSpPr>
          <p:nvPr/>
        </p:nvSpPr>
        <p:spPr>
          <a:xfrm xmlns:a="http://schemas.openxmlformats.org/drawingml/2006/main">
            <a:off x="11144250" y="6048375"/>
            <a:ext cx="428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8717B"/>
                </a:solidFill>
                <a:latin typeface="Arial"/>
                <a:ea typeface="Arial"/>
                <a:cs typeface="Arial"/>
              </a:defRPr>
            </a:pPr>
            <a:r>
              <a:rPr sz="1725" b="0">
                <a:solidFill>
                  <a:srgbClr val="58717B"/>
                </a:solidFill>
                <a:latin typeface="Arial"/>
                <a:ea typeface="Arial"/>
                <a:cs typeface="Arial"/>
              </a:rPr>
              <a:t>2</a:t>
            </a:r>
          </a:p>
        </p:txBody>
      </p:sp>
      <p:sp>
        <p:nvSpPr>
          <p:cNvPr id="4" name="">
            <a:extLst xmlns:a="http://schemas.openxmlformats.org/drawingml/2006/main">
              <a:ext uri="{FF2B5EF4-FFF2-40B4-BE49-F238E27FC236}">
                <a16:creationId xmlns:a16="http://schemas.microsoft.com/office/drawing/2014/main" id="{8431AB94-DC7F-4473-B13A-DA71C5531870}"/>
              </a:ext>
            </a:extLst>
          </p:cNvPr>
          <p:cNvSpPr>
            <a:spLocks xmlns:a="http://schemas.openxmlformats.org/drawingml/2006/main" noGrp="1"/>
          </p:cNvSpPr>
          <p:nvPr/>
        </p:nvSpPr>
        <p:spPr>
          <a:xfrm xmlns:a="http://schemas.openxmlformats.org/drawingml/2006/main">
            <a:off x="609600" y="142875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82B45"/>
                </a:solidFill>
                <a:latin typeface="Arial"/>
                <a:ea typeface="Arial"/>
                <a:cs typeface="Arial"/>
              </a:defRPr>
            </a:pPr>
            <a:r>
              <a:rPr sz="2550" b="1">
                <a:solidFill>
                  <a:srgbClr val="182B45"/>
                </a:solidFill>
                <a:latin typeface="Arial"/>
                <a:ea typeface="Arial"/>
                <a:cs typeface="Arial"/>
              </a:rPr>
              <a:t>How does Compound_X affect CD8 activation</a:t>
            </a:r>
          </a:p>
          <a:p xmlns:a="http://schemas.openxmlformats.org/drawingml/2006/main">
            <a:pPr>
              <a:defRPr sz="2550" b="1">
                <a:solidFill>
                  <a:srgbClr val="182B45"/>
                </a:solidFill>
                <a:latin typeface="Arial"/>
                <a:ea typeface="Arial"/>
                <a:cs typeface="Arial"/>
              </a:defRPr>
            </a:pPr>
            <a:r>
              <a:rPr sz="2550" b="1">
                <a:solidFill>
                  <a:srgbClr val="182B45"/>
                </a:solidFill>
                <a:latin typeface="Arial"/>
                <a:ea typeface="Arial"/>
                <a:cs typeface="Arial"/>
              </a:rPr>
              <a:t>with and without stimulation?</a:t>
            </a:r>
          </a:p>
        </p:txBody>
      </p:sp>
      <p:sp>
        <p:nvSpPr>
          <p:cNvPr id="5" name="">
            <a:extLst xmlns:a="http://schemas.openxmlformats.org/drawingml/2006/main">
              <a:ext uri="{FF2B5EF4-FFF2-40B4-BE49-F238E27FC236}">
                <a16:creationId xmlns:a16="http://schemas.microsoft.com/office/drawing/2014/main" id="{5922D579-3C03-4919-ADB5-788539300D9D}"/>
              </a:ext>
            </a:extLst>
          </p:cNvPr>
          <p:cNvSpPr>
            <a:spLocks xmlns:a="http://schemas.openxmlformats.org/drawingml/2006/main" noGrp="1"/>
          </p:cNvSpPr>
          <p:nvPr/>
        </p:nvSpPr>
        <p:spPr>
          <a:xfrm xmlns:a="http://schemas.openxmlformats.org/drawingml/2006/main">
            <a:off x="609600" y="2857500"/>
            <a:ext cx="5143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82B45"/>
                </a:solidFill>
                <a:latin typeface="Arial"/>
                <a:ea typeface="Arial"/>
                <a:cs typeface="Arial"/>
              </a:defRPr>
            </a:pPr>
            <a:r>
              <a:rPr sz="2400" b="0">
                <a:solidFill>
                  <a:srgbClr val="182B45"/>
                </a:solidFill>
                <a:latin typeface="Arial"/>
                <a:ea typeface="Arial"/>
                <a:cs typeface="Arial"/>
              </a:rPr>
              <a:t>10 simulated donors</a:t>
            </a:r>
          </a:p>
          <a:p xmlns:a="http://schemas.openxmlformats.org/drawingml/2006/main">
            <a:pPr>
              <a:defRPr sz="2400" b="0">
                <a:solidFill>
                  <a:srgbClr val="182B45"/>
                </a:solidFill>
                <a:latin typeface="Arial"/>
                <a:ea typeface="Arial"/>
                <a:cs typeface="Arial"/>
              </a:defRPr>
            </a:pPr>
            <a:r>
              <a:rPr sz="2400" b="0">
                <a:solidFill>
                  <a:srgbClr val="182B45"/>
                </a:solidFill>
                <a:latin typeface="Arial"/>
                <a:ea typeface="Arial"/>
                <a:cs typeface="Arial"/>
              </a:rPr>
              <a:t>4 conditions per donor</a:t>
            </a:r>
          </a:p>
          <a:p xmlns:a="http://schemas.openxmlformats.org/drawingml/2006/main">
            <a:pPr>
              <a:defRPr sz="2400" b="0">
                <a:solidFill>
                  <a:srgbClr val="182B45"/>
                </a:solidFill>
                <a:latin typeface="Arial"/>
                <a:ea typeface="Arial"/>
                <a:cs typeface="Arial"/>
              </a:defRPr>
            </a:pPr>
            <a:r>
              <a:rPr sz="2400" b="0">
                <a:solidFill>
                  <a:srgbClr val="182B45"/>
                </a:solidFill>
                <a:latin typeface="Arial"/>
                <a:ea typeface="Arial"/>
                <a:cs typeface="Arial"/>
              </a:rPr>
              <a:t>2 technical aliquots per culture</a:t>
            </a:r>
          </a:p>
        </p:txBody>
      </p:sp>
      <p:sp>
        <p:nvSpPr>
          <p:cNvPr id="6" name="">
            <a:extLst xmlns:a="http://schemas.openxmlformats.org/drawingml/2006/main">
              <a:ext uri="{FF2B5EF4-FFF2-40B4-BE49-F238E27FC236}">
                <a16:creationId xmlns:a16="http://schemas.microsoft.com/office/drawing/2014/main" id="{67FFD60B-3F52-4528-857D-662B0988B345}"/>
              </a:ext>
            </a:extLst>
          </p:cNvPr>
          <p:cNvSpPr>
            <a:spLocks xmlns:a="http://schemas.openxmlformats.org/drawingml/2006/main" noGrp="1"/>
          </p:cNvSpPr>
          <p:nvPr/>
        </p:nvSpPr>
        <p:spPr>
          <a:xfrm xmlns:a="http://schemas.openxmlformats.org/drawingml/2006/main">
            <a:off x="6572250" y="2857500"/>
            <a:ext cx="50482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5778B"/>
                </a:solidFill>
                <a:latin typeface="Arial"/>
                <a:ea typeface="Arial"/>
                <a:cs typeface="Arial"/>
              </a:defRPr>
            </a:pPr>
            <a:r>
              <a:rPr sz="2400" b="1">
                <a:solidFill>
                  <a:srgbClr val="25778B"/>
                </a:solidFill>
                <a:latin typeface="Arial"/>
                <a:ea typeface="Arial"/>
                <a:cs typeface="Arial"/>
              </a:rPr>
              <a:t>80 measurements</a:t>
            </a:r>
          </a:p>
          <a:p xmlns:a="http://schemas.openxmlformats.org/drawingml/2006/main">
            <a:pPr>
              <a:defRPr sz="2400" b="1">
                <a:solidFill>
                  <a:srgbClr val="25778B"/>
                </a:solidFill>
                <a:latin typeface="Arial"/>
                <a:ea typeface="Arial"/>
                <a:cs typeface="Arial"/>
              </a:defRPr>
            </a:pPr>
            <a:r>
              <a:rPr sz="2400" b="1">
                <a:solidFill>
                  <a:srgbClr val="25778B"/>
                </a:solidFill>
                <a:latin typeface="Arial"/>
                <a:ea typeface="Arial"/>
                <a:cs typeface="Arial"/>
              </a:rPr>
              <a:t>40 culture averages</a:t>
            </a:r>
          </a:p>
          <a:p xmlns:a="http://schemas.openxmlformats.org/drawingml/2006/main">
            <a:pPr>
              <a:defRPr sz="2400" b="1">
                <a:solidFill>
                  <a:srgbClr val="25778B"/>
                </a:solidFill>
                <a:latin typeface="Arial"/>
                <a:ea typeface="Arial"/>
                <a:cs typeface="Arial"/>
              </a:defRPr>
            </a:pPr>
            <a:r>
              <a:rPr sz="2400" b="1">
                <a:solidFill>
                  <a:srgbClr val="25778B"/>
                </a:solidFill>
                <a:latin typeface="Arial"/>
                <a:ea typeface="Arial"/>
                <a:cs typeface="Arial"/>
              </a:rPr>
              <a:t>10 paired donors</a:t>
            </a:r>
          </a:p>
        </p:txBody>
      </p:sp>
      <p:sp>
        <p:nvSpPr>
          <p:cNvPr id="7" name="">
            <a:extLst xmlns:a="http://schemas.openxmlformats.org/drawingml/2006/main">
              <a:ext uri="{FF2B5EF4-FFF2-40B4-BE49-F238E27FC236}">
                <a16:creationId xmlns:a16="http://schemas.microsoft.com/office/drawing/2014/main" id="{13005F39-4BE1-4A05-939A-F499E75F644F}"/>
              </a:ext>
            </a:extLst>
          </p:cNvPr>
          <p:cNvSpPr>
            <a:spLocks xmlns:a="http://schemas.openxmlformats.org/drawingml/2006/main" noGrp="1"/>
          </p:cNvSpPr>
          <p:nvPr/>
        </p:nvSpPr>
        <p:spPr>
          <a:xfrm xmlns:a="http://schemas.openxmlformats.org/drawingml/2006/main">
            <a:off x="609600" y="50958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8717B"/>
                </a:solidFill>
                <a:latin typeface="Arial"/>
                <a:ea typeface="Arial"/>
                <a:cs typeface="Arial"/>
              </a:defRPr>
            </a:pPr>
            <a:r>
              <a:rPr sz="1875" b="0">
                <a:solidFill>
                  <a:srgbClr val="58717B"/>
                </a:solidFill>
                <a:latin typeface="Arial"/>
                <a:ea typeface="Arial"/>
                <a:cs typeface="Arial"/>
              </a:rPr>
              <a:t>data.csv and study_context.md are identical in every round.</a:t>
            </a:r>
          </a:p>
          <a:p xmlns:a="http://schemas.openxmlformats.org/drawingml/2006/main">
            <a:pPr>
              <a:defRPr sz="1875" b="0">
                <a:solidFill>
                  <a:srgbClr val="58717B"/>
                </a:solidFill>
                <a:latin typeface="Arial"/>
                <a:ea typeface="Arial"/>
                <a:cs typeface="Arial"/>
              </a:defRPr>
            </a:pPr>
            <a:r>
              <a:rPr sz="1875" b="0">
                <a:solidFill>
                  <a:srgbClr val="58717B"/>
                </a:solidFill>
                <a:latin typeface="Arial"/>
                <a:ea typeface="Arial"/>
                <a:cs typeface="Arial"/>
              </a:rPr>
              <a:t>All measurements and the compound are fictional.</a:t>
            </a:r>
          </a:p>
        </p:txBody>
      </p:sp>
    </p:spTree>
    <p:extLst>
      <p:ext uri="{BB962C8B-B14F-4D97-AF65-F5344CB8AC3E}">
        <p14:creationId xmlns:p14="http://schemas.microsoft.com/office/powerpoint/2010/main" val="185059114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4F2F891-00A2-455C-8033-A6C1D4E274F5}"/>
              </a:ext>
            </a:extLst>
          </p:cNvPr>
          <p:cNvSpPr>
            <a:spLocks xmlns:a="http://schemas.openxmlformats.org/drawingml/2006/main" noGrp="1"/>
          </p:cNvSpPr>
          <p:nvPr/>
        </p:nvSpPr>
        <p:spPr>
          <a:xfrm xmlns:a="http://schemas.openxmlformats.org/drawingml/2006/main">
            <a:off x="609600" y="4572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2B45"/>
                </a:solidFill>
                <a:latin typeface="Arial"/>
                <a:ea typeface="Arial"/>
                <a:cs typeface="Arial"/>
              </a:defRPr>
            </a:pPr>
            <a:r>
              <a:rPr sz="3300" b="1">
                <a:solidFill>
                  <a:srgbClr val="182B45"/>
                </a:solidFill>
                <a:latin typeface="Arial"/>
                <a:ea typeface="Arial"/>
                <a:cs typeface="Arial"/>
              </a:rPr>
              <a:t>Round 1: the naïve prompt</a:t>
            </a:r>
          </a:p>
        </p:txBody>
      </p:sp>
      <p:sp>
        <p:nvSpPr>
          <p:cNvPr id="2" name="">
            <a:extLst xmlns:a="http://schemas.openxmlformats.org/drawingml/2006/main">
              <a:ext uri="{FF2B5EF4-FFF2-40B4-BE49-F238E27FC236}">
                <a16:creationId xmlns:a16="http://schemas.microsoft.com/office/drawing/2014/main" id="{1502B679-FE40-4C00-8FD9-EF95CEA30B6C}"/>
              </a:ext>
            </a:extLst>
          </p:cNvPr>
          <p:cNvSpPr>
            <a:spLocks xmlns:a="http://schemas.openxmlformats.org/drawingml/2006/main" noGrp="1"/>
          </p:cNvSpPr>
          <p:nvPr/>
        </p:nvSpPr>
        <p:spPr>
          <a:xfrm xmlns:a="http://schemas.openxmlformats.org/drawingml/2006/main">
            <a:off x="609600" y="604837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8717B"/>
                </a:solidFill>
                <a:latin typeface="Arial"/>
                <a:ea typeface="Arial"/>
                <a:cs typeface="Arial"/>
              </a:defRPr>
            </a:pPr>
            <a:r>
              <a:rPr sz="1725" b="0">
                <a:solidFill>
                  <a:srgbClr val="58717B"/>
                </a:solidFill>
                <a:latin typeface="Arial"/>
                <a:ea typeface="Arial"/>
                <a:cs typeface="Arial"/>
              </a:rPr>
              <a:t>Round 1 · 6 minutes</a:t>
            </a:r>
          </a:p>
        </p:txBody>
      </p:sp>
      <p:sp>
        <p:nvSpPr>
          <p:cNvPr id="3" name="">
            <a:extLst xmlns:a="http://schemas.openxmlformats.org/drawingml/2006/main">
              <a:ext uri="{FF2B5EF4-FFF2-40B4-BE49-F238E27FC236}">
                <a16:creationId xmlns:a16="http://schemas.microsoft.com/office/drawing/2014/main" id="{8D3B3126-2A11-4A82-B071-08C8E3A9474F}"/>
              </a:ext>
            </a:extLst>
          </p:cNvPr>
          <p:cNvSpPr>
            <a:spLocks xmlns:a="http://schemas.openxmlformats.org/drawingml/2006/main" noGrp="1"/>
          </p:cNvSpPr>
          <p:nvPr/>
        </p:nvSpPr>
        <p:spPr>
          <a:xfrm xmlns:a="http://schemas.openxmlformats.org/drawingml/2006/main">
            <a:off x="11144250" y="6048375"/>
            <a:ext cx="428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8717B"/>
                </a:solidFill>
                <a:latin typeface="Arial"/>
                <a:ea typeface="Arial"/>
                <a:cs typeface="Arial"/>
              </a:defRPr>
            </a:pPr>
            <a:r>
              <a:rPr sz="1725" b="0">
                <a:solidFill>
                  <a:srgbClr val="58717B"/>
                </a:solidFill>
                <a:latin typeface="Arial"/>
                <a:ea typeface="Arial"/>
                <a:cs typeface="Arial"/>
              </a:rPr>
              <a:t>3</a:t>
            </a:r>
          </a:p>
        </p:txBody>
      </p:sp>
      <p:sp>
        <p:nvSpPr>
          <p:cNvPr id="4" name="">
            <a:extLst xmlns:a="http://schemas.openxmlformats.org/drawingml/2006/main">
              <a:ext uri="{FF2B5EF4-FFF2-40B4-BE49-F238E27FC236}">
                <a16:creationId xmlns:a16="http://schemas.microsoft.com/office/drawing/2014/main" id="{D6EB923D-4D7C-400B-B880-F43FEDE8CB55}"/>
              </a:ext>
            </a:extLst>
          </p:cNvPr>
          <p:cNvSpPr>
            <a:spLocks xmlns:a="http://schemas.openxmlformats.org/drawingml/2006/main" noGrp="1"/>
          </p:cNvSpPr>
          <p:nvPr/>
        </p:nvSpPr>
        <p:spPr>
          <a:xfrm xmlns:a="http://schemas.openxmlformats.org/drawingml/2006/main">
            <a:off x="609600" y="1571625"/>
            <a:ext cx="1095375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82B45"/>
                </a:solidFill>
                <a:latin typeface="Arial"/>
                <a:ea typeface="Arial"/>
                <a:cs typeface="Arial"/>
              </a:defRPr>
            </a:pPr>
            <a:r>
              <a:rPr sz="2400" b="0">
                <a:solidFill>
                  <a:srgbClr val="182B45"/>
                </a:solidFill>
                <a:latin typeface="Arial"/>
                <a:ea typeface="Arial"/>
                <a:cs typeface="Arial"/>
              </a:rPr>
              <a:t>“Use data.csv and study_context.md to make a</a:t>
            </a:r>
          </a:p>
          <a:p xmlns:a="http://schemas.openxmlformats.org/drawingml/2006/main">
            <a:pPr>
              <a:defRPr sz="2400" b="0">
                <a:solidFill>
                  <a:srgbClr val="182B45"/>
                </a:solidFill>
                <a:latin typeface="Arial"/>
                <a:ea typeface="Arial"/>
                <a:cs typeface="Arial"/>
              </a:defRPr>
            </a:pPr>
            <a:r>
              <a:rPr sz="2400" b="0">
                <a:solidFill>
                  <a:srgbClr val="182B45"/>
                </a:solidFill>
                <a:latin typeface="Arial"/>
                <a:ea typeface="Arial"/>
                <a:cs typeface="Arial"/>
              </a:rPr>
              <a:t>scientific figure showing how Compound_X affects</a:t>
            </a:r>
          </a:p>
          <a:p xmlns:a="http://schemas.openxmlformats.org/drawingml/2006/main">
            <a:pPr>
              <a:defRPr sz="2400" b="0">
                <a:solidFill>
                  <a:srgbClr val="182B45"/>
                </a:solidFill>
                <a:latin typeface="Arial"/>
                <a:ea typeface="Arial"/>
                <a:cs typeface="Arial"/>
              </a:defRPr>
            </a:pPr>
            <a:r>
              <a:rPr sz="2400" b="0">
                <a:solidFill>
                  <a:srgbClr val="182B45"/>
                </a:solidFill>
                <a:latin typeface="Arial"/>
                <a:ea typeface="Arial"/>
                <a:cs typeface="Arial"/>
              </a:rPr>
              <a:t>CD8 T-cell activation with and without stimulation.</a:t>
            </a:r>
          </a:p>
          <a:p xmlns:a="http://schemas.openxmlformats.org/drawingml/2006/main">
            <a:pPr>
              <a:defRPr sz="2400" b="0">
                <a:solidFill>
                  <a:srgbClr val="182B45"/>
                </a:solidFill>
                <a:latin typeface="Arial"/>
                <a:ea typeface="Arial"/>
                <a:cs typeface="Arial"/>
              </a:defRPr>
            </a:pPr>
            <a:r>
              <a:rPr sz="2400" b="0">
                <a:solidFill>
                  <a:srgbClr val="182B45"/>
                </a:solidFill>
                <a:latin typeface="Arial"/>
                <a:ea typeface="Arial"/>
                <a:cs typeface="Arial"/>
              </a:rPr>
              <a:t>Save the figure and the files requested in</a:t>
            </a:r>
          </a:p>
          <a:p xmlns:a="http://schemas.openxmlformats.org/drawingml/2006/main">
            <a:pPr>
              <a:defRPr sz="2400" b="0">
                <a:solidFill>
                  <a:srgbClr val="182B45"/>
                </a:solidFill>
                <a:latin typeface="Arial"/>
                <a:ea typeface="Arial"/>
                <a:cs typeface="Arial"/>
              </a:defRPr>
            </a:pPr>
            <a:r>
              <a:rPr sz="2400" b="0">
                <a:solidFill>
                  <a:srgbClr val="182B45"/>
                </a:solidFill>
                <a:latin typeface="Arial"/>
                <a:ea typeface="Arial"/>
                <a:cs typeface="Arial"/>
              </a:rPr>
              <a:t>study_context.md in outputs/.”</a:t>
            </a:r>
          </a:p>
        </p:txBody>
      </p:sp>
      <p:sp>
        <p:nvSpPr>
          <p:cNvPr id="5" name="">
            <a:extLst xmlns:a="http://schemas.openxmlformats.org/drawingml/2006/main">
              <a:ext uri="{FF2B5EF4-FFF2-40B4-BE49-F238E27FC236}">
                <a16:creationId xmlns:a16="http://schemas.microsoft.com/office/drawing/2014/main" id="{F3842E5E-E94F-4283-8D81-8669D6079A89}"/>
              </a:ext>
            </a:extLst>
          </p:cNvPr>
          <p:cNvSpPr>
            <a:spLocks xmlns:a="http://schemas.openxmlformats.org/drawingml/2006/main" noGrp="1"/>
          </p:cNvSpPr>
          <p:nvPr/>
        </p:nvSpPr>
        <p:spPr>
          <a:xfrm xmlns:a="http://schemas.openxmlformats.org/drawingml/2006/main">
            <a:off x="609600" y="457200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5778B"/>
                </a:solidFill>
                <a:latin typeface="Arial"/>
                <a:ea typeface="Arial"/>
                <a:cs typeface="Arial"/>
              </a:defRPr>
            </a:pPr>
            <a:r>
              <a:rPr sz="2025" b="1">
                <a:solidFill>
                  <a:srgbClr val="25778B"/>
                </a:solidFill>
                <a:latin typeface="Arial"/>
                <a:ea typeface="Arial"/>
                <a:cs typeface="Arial"/>
              </a:rPr>
              <a:t>Open round_1_naive in a fresh task. Paste PROMPT.txt.</a:t>
            </a:r>
          </a:p>
        </p:txBody>
      </p:sp>
      <p:sp>
        <p:nvSpPr>
          <p:cNvPr id="6" name="">
            <a:extLst xmlns:a="http://schemas.openxmlformats.org/drawingml/2006/main">
              <a:ext uri="{FF2B5EF4-FFF2-40B4-BE49-F238E27FC236}">
                <a16:creationId xmlns:a16="http://schemas.microsoft.com/office/drawing/2014/main" id="{D7198B12-37B5-4F74-80BC-C1FC68536085}"/>
              </a:ext>
            </a:extLst>
          </p:cNvPr>
          <p:cNvSpPr>
            <a:spLocks xmlns:a="http://schemas.openxmlformats.org/drawingml/2006/main" noGrp="1"/>
          </p:cNvSpPr>
          <p:nvPr/>
        </p:nvSpPr>
        <p:spPr>
          <a:xfrm xmlns:a="http://schemas.openxmlformats.org/drawingml/2006/main">
            <a:off x="609600" y="525780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2B45"/>
                </a:solidFill>
                <a:latin typeface="Arial"/>
                <a:ea typeface="Arial"/>
                <a:cs typeface="Arial"/>
              </a:defRPr>
            </a:pPr>
            <a:r>
              <a:rPr sz="2025" b="0">
                <a:solidFill>
                  <a:srgbClr val="182B45"/>
                </a:solidFill>
                <a:latin typeface="Arial"/>
                <a:ea typeface="Arial"/>
                <a:cs typeface="Arial"/>
              </a:rPr>
              <a:t>Inspect the first result and preserve it for comparison.</a:t>
            </a:r>
          </a:p>
        </p:txBody>
      </p:sp>
    </p:spTree>
    <p:extLst>
      <p:ext uri="{BB962C8B-B14F-4D97-AF65-F5344CB8AC3E}">
        <p14:creationId xmlns:p14="http://schemas.microsoft.com/office/powerpoint/2010/main" val="150105401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BE505CF-8545-4E7A-8280-E6CB41295433}"/>
              </a:ext>
            </a:extLst>
          </p:cNvPr>
          <p:cNvSpPr>
            <a:spLocks xmlns:a="http://schemas.openxmlformats.org/drawingml/2006/main" noGrp="1"/>
          </p:cNvSpPr>
          <p:nvPr/>
        </p:nvSpPr>
        <p:spPr>
          <a:xfrm xmlns:a="http://schemas.openxmlformats.org/drawingml/2006/main">
            <a:off x="609600" y="4572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2B45"/>
                </a:solidFill>
                <a:latin typeface="Arial"/>
                <a:ea typeface="Arial"/>
                <a:cs typeface="Arial"/>
              </a:defRPr>
            </a:pPr>
            <a:r>
              <a:rPr sz="3300" b="1">
                <a:solidFill>
                  <a:srgbClr val="182B45"/>
                </a:solidFill>
                <a:latin typeface="Arial"/>
                <a:ea typeface="Arial"/>
                <a:cs typeface="Arial"/>
              </a:rPr>
              <a:t>Round 2: the advanced prompt</a:t>
            </a:r>
          </a:p>
        </p:txBody>
      </p:sp>
      <p:sp>
        <p:nvSpPr>
          <p:cNvPr id="2" name="">
            <a:extLst xmlns:a="http://schemas.openxmlformats.org/drawingml/2006/main">
              <a:ext uri="{FF2B5EF4-FFF2-40B4-BE49-F238E27FC236}">
                <a16:creationId xmlns:a16="http://schemas.microsoft.com/office/drawing/2014/main" id="{366102C1-0F23-42D6-9F1E-DBDBF1655D3E}"/>
              </a:ext>
            </a:extLst>
          </p:cNvPr>
          <p:cNvSpPr>
            <a:spLocks xmlns:a="http://schemas.openxmlformats.org/drawingml/2006/main" noGrp="1"/>
          </p:cNvSpPr>
          <p:nvPr/>
        </p:nvSpPr>
        <p:spPr>
          <a:xfrm xmlns:a="http://schemas.openxmlformats.org/drawingml/2006/main">
            <a:off x="609600" y="604837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8717B"/>
                </a:solidFill>
                <a:latin typeface="Arial"/>
                <a:ea typeface="Arial"/>
                <a:cs typeface="Arial"/>
              </a:defRPr>
            </a:pPr>
            <a:r>
              <a:rPr sz="1725" b="0">
                <a:solidFill>
                  <a:srgbClr val="58717B"/>
                </a:solidFill>
                <a:latin typeface="Arial"/>
                <a:ea typeface="Arial"/>
                <a:cs typeface="Arial"/>
              </a:rPr>
              <a:t>Round 2 · 6 minutes</a:t>
            </a:r>
          </a:p>
        </p:txBody>
      </p:sp>
      <p:sp>
        <p:nvSpPr>
          <p:cNvPr id="3" name="">
            <a:extLst xmlns:a="http://schemas.openxmlformats.org/drawingml/2006/main">
              <a:ext uri="{FF2B5EF4-FFF2-40B4-BE49-F238E27FC236}">
                <a16:creationId xmlns:a16="http://schemas.microsoft.com/office/drawing/2014/main" id="{A56D7424-03FA-4A9D-A38E-2F92D560E55E}"/>
              </a:ext>
            </a:extLst>
          </p:cNvPr>
          <p:cNvSpPr>
            <a:spLocks xmlns:a="http://schemas.openxmlformats.org/drawingml/2006/main" noGrp="1"/>
          </p:cNvSpPr>
          <p:nvPr/>
        </p:nvSpPr>
        <p:spPr>
          <a:xfrm xmlns:a="http://schemas.openxmlformats.org/drawingml/2006/main">
            <a:off x="11144250" y="6048375"/>
            <a:ext cx="428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8717B"/>
                </a:solidFill>
                <a:latin typeface="Arial"/>
                <a:ea typeface="Arial"/>
                <a:cs typeface="Arial"/>
              </a:defRPr>
            </a:pPr>
            <a:r>
              <a:rPr sz="1725" b="0">
                <a:solidFill>
                  <a:srgbClr val="58717B"/>
                </a:solidFill>
                <a:latin typeface="Arial"/>
                <a:ea typeface="Arial"/>
                <a:cs typeface="Arial"/>
              </a:rPr>
              <a:t>4</a:t>
            </a:r>
          </a:p>
        </p:txBody>
      </p:sp>
      <p:sp>
        <p:nvSpPr>
          <p:cNvPr id="4" name="">
            <a:extLst xmlns:a="http://schemas.openxmlformats.org/drawingml/2006/main">
              <a:ext uri="{FF2B5EF4-FFF2-40B4-BE49-F238E27FC236}">
                <a16:creationId xmlns:a16="http://schemas.microsoft.com/office/drawing/2014/main" id="{574BC964-7C02-410C-94A9-7AB87D950716}"/>
              </a:ext>
            </a:extLst>
          </p:cNvPr>
          <p:cNvSpPr>
            <a:spLocks xmlns:a="http://schemas.openxmlformats.org/drawingml/2006/main" noGrp="1"/>
          </p:cNvSpPr>
          <p:nvPr/>
        </p:nvSpPr>
        <p:spPr>
          <a:xfrm xmlns:a="http://schemas.openxmlformats.org/drawingml/2006/main">
            <a:off x="609600" y="14763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5778B"/>
                </a:solidFill>
                <a:latin typeface="Arial"/>
                <a:ea typeface="Arial"/>
                <a:cs typeface="Arial"/>
              </a:defRPr>
            </a:pPr>
            <a:r>
              <a:rPr sz="2550" b="1">
                <a:solidFill>
                  <a:srgbClr val="25778B"/>
                </a:solidFill>
                <a:latin typeface="Arial"/>
                <a:ea typeface="Arial"/>
                <a:cs typeface="Arial"/>
              </a:rPr>
              <a:t>The brief makes the scientific decisions explicit</a:t>
            </a:r>
          </a:p>
        </p:txBody>
      </p:sp>
      <p:sp>
        <p:nvSpPr>
          <p:cNvPr id="5" name="">
            <a:extLst xmlns:a="http://schemas.openxmlformats.org/drawingml/2006/main">
              <a:ext uri="{FF2B5EF4-FFF2-40B4-BE49-F238E27FC236}">
                <a16:creationId xmlns:a16="http://schemas.microsoft.com/office/drawing/2014/main" id="{F55F2DFE-00A2-4CCA-9C29-7909BF9263E4}"/>
              </a:ext>
            </a:extLst>
          </p:cNvPr>
          <p:cNvSpPr>
            <a:spLocks xmlns:a="http://schemas.openxmlformats.org/drawingml/2006/main" noGrp="1"/>
          </p:cNvSpPr>
          <p:nvPr/>
        </p:nvSpPr>
        <p:spPr>
          <a:xfrm xmlns:a="http://schemas.openxmlformats.org/drawingml/2006/main">
            <a:off x="609600" y="2476500"/>
            <a:ext cx="1095375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2B45"/>
                </a:solidFill>
                <a:latin typeface="Arial"/>
                <a:ea typeface="Arial"/>
                <a:cs typeface="Arial"/>
              </a:defRPr>
            </a:pPr>
            <a:r>
              <a:rPr sz="2250" b="0">
                <a:solidFill>
                  <a:srgbClr val="182B45"/>
                </a:solidFill>
                <a:latin typeface="Arial"/>
                <a:ea typeface="Arial"/>
                <a:cs typeface="Arial"/>
              </a:rPr>
              <a:t>Average technical aliquots within each culture.</a:t>
            </a:r>
          </a:p>
          <a:p xmlns:a="http://schemas.openxmlformats.org/drawingml/2006/main">
            <a:pPr>
              <a:defRPr sz="2250" b="0">
                <a:solidFill>
                  <a:srgbClr val="182B45"/>
                </a:solidFill>
                <a:latin typeface="Arial"/>
                <a:ea typeface="Arial"/>
                <a:cs typeface="Arial"/>
              </a:defRPr>
            </a:pPr>
            <a:r>
              <a:rPr sz="2250" b="0">
                <a:solidFill>
                  <a:srgbClr val="182B45"/>
                </a:solidFill>
                <a:latin typeface="Arial"/>
                <a:ea typeface="Arial"/>
                <a:cs typeface="Arial"/>
              </a:rPr>
              <a:t>Pair treatments by donor and separate stimulation groups.</a:t>
            </a:r>
          </a:p>
          <a:p xmlns:a="http://schemas.openxmlformats.org/drawingml/2006/main">
            <a:pPr>
              <a:defRPr sz="2250" b="0">
                <a:solidFill>
                  <a:srgbClr val="182B45"/>
                </a:solidFill>
                <a:latin typeface="Arial"/>
                <a:ea typeface="Arial"/>
                <a:cs typeface="Arial"/>
              </a:defRPr>
            </a:pPr>
            <a:r>
              <a:rPr sz="2250" b="0">
                <a:solidFill>
                  <a:srgbClr val="182B45"/>
                </a:solidFill>
                <a:latin typeface="Arial"/>
                <a:ea typeface="Arial"/>
                <a:cs typeface="Arial"/>
              </a:rPr>
              <a:t>Show individual donors with clear units and a full caption.</a:t>
            </a:r>
          </a:p>
          <a:p xmlns:a="http://schemas.openxmlformats.org/drawingml/2006/main">
            <a:pPr>
              <a:defRPr sz="2250" b="0">
                <a:solidFill>
                  <a:srgbClr val="182B45"/>
                </a:solidFill>
                <a:latin typeface="Arial"/>
                <a:ea typeface="Arial"/>
                <a:cs typeface="Arial"/>
              </a:defRPr>
            </a:pPr>
            <a:r>
              <a:rPr sz="2250" b="0">
                <a:solidFill>
                  <a:srgbClr val="182B45"/>
                </a:solidFill>
                <a:latin typeface="Arial"/>
                <a:ea typeface="Arial"/>
                <a:cs typeface="Arial"/>
              </a:rPr>
              <a:t>Save the plotted values, code and regeneration command.</a:t>
            </a:r>
          </a:p>
          <a:p xmlns:a="http://schemas.openxmlformats.org/drawingml/2006/main">
            <a:pPr>
              <a:defRPr sz="2250" b="0">
                <a:solidFill>
                  <a:srgbClr val="182B45"/>
                </a:solidFill>
                <a:latin typeface="Arial"/>
                <a:ea typeface="Arial"/>
                <a:cs typeface="Arial"/>
              </a:defRPr>
            </a:pPr>
            <a:r>
              <a:rPr sz="2250" b="0">
                <a:solidFill>
                  <a:srgbClr val="182B45"/>
                </a:solidFill>
                <a:latin typeface="Arial"/>
                <a:ea typeface="Arial"/>
                <a:cs typeface="Arial"/>
              </a:rPr>
              <a:t>Run the code and inspect the saved outputs.</a:t>
            </a:r>
          </a:p>
        </p:txBody>
      </p:sp>
      <p:sp>
        <p:nvSpPr>
          <p:cNvPr id="6" name="">
            <a:extLst xmlns:a="http://schemas.openxmlformats.org/drawingml/2006/main">
              <a:ext uri="{FF2B5EF4-FFF2-40B4-BE49-F238E27FC236}">
                <a16:creationId xmlns:a16="http://schemas.microsoft.com/office/drawing/2014/main" id="{9F3F398F-2FE1-46D2-AC71-461FFDCD2E23}"/>
              </a:ext>
            </a:extLst>
          </p:cNvPr>
          <p:cNvSpPr>
            <a:spLocks xmlns:a="http://schemas.openxmlformats.org/drawingml/2006/main" noGrp="1"/>
          </p:cNvSpPr>
          <p:nvPr/>
        </p:nvSpPr>
        <p:spPr>
          <a:xfrm xmlns:a="http://schemas.openxmlformats.org/drawingml/2006/main">
            <a:off x="609600" y="53816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8717B"/>
                </a:solidFill>
                <a:latin typeface="Arial"/>
                <a:ea typeface="Arial"/>
                <a:cs typeface="Arial"/>
              </a:defRPr>
            </a:pPr>
            <a:r>
              <a:rPr sz="1950" b="0">
                <a:solidFill>
                  <a:srgbClr val="58717B"/>
                </a:solidFill>
                <a:latin typeface="Arial"/>
                <a:ea typeface="Arial"/>
                <a:cs typeface="Arial"/>
              </a:rPr>
              <a:t>Open round_2_advanced in a fresh task. Paste PROMPT.txt.</a:t>
            </a:r>
          </a:p>
        </p:txBody>
      </p:sp>
    </p:spTree>
    <p:extLst>
      <p:ext uri="{BB962C8B-B14F-4D97-AF65-F5344CB8AC3E}">
        <p14:creationId xmlns:p14="http://schemas.microsoft.com/office/powerpoint/2010/main" val="193224717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1B51BEA-7CC2-4139-BCA2-DDCB0115622C}"/>
              </a:ext>
            </a:extLst>
          </p:cNvPr>
          <p:cNvSpPr>
            <a:spLocks xmlns:a="http://schemas.openxmlformats.org/drawingml/2006/main" noGrp="1"/>
          </p:cNvSpPr>
          <p:nvPr/>
        </p:nvSpPr>
        <p:spPr>
          <a:xfrm xmlns:a="http://schemas.openxmlformats.org/drawingml/2006/main">
            <a:off x="609600" y="4572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2B45"/>
                </a:solidFill>
                <a:latin typeface="Arial"/>
                <a:ea typeface="Arial"/>
                <a:cs typeface="Arial"/>
              </a:defRPr>
            </a:pPr>
            <a:r>
              <a:rPr sz="3300" b="1">
                <a:solidFill>
                  <a:srgbClr val="182B45"/>
                </a:solidFill>
                <a:latin typeface="Arial"/>
                <a:ea typeface="Arial"/>
                <a:cs typeface="Arial"/>
              </a:rPr>
              <a:t>Round 3: Plan mode</a:t>
            </a:r>
          </a:p>
        </p:txBody>
      </p:sp>
      <p:sp>
        <p:nvSpPr>
          <p:cNvPr id="2" name="">
            <a:extLst xmlns:a="http://schemas.openxmlformats.org/drawingml/2006/main">
              <a:ext uri="{FF2B5EF4-FFF2-40B4-BE49-F238E27FC236}">
                <a16:creationId xmlns:a16="http://schemas.microsoft.com/office/drawing/2014/main" id="{314EBF5F-AD52-49B4-9A0D-E2DE5DA74F51}"/>
              </a:ext>
            </a:extLst>
          </p:cNvPr>
          <p:cNvSpPr>
            <a:spLocks xmlns:a="http://schemas.openxmlformats.org/drawingml/2006/main" noGrp="1"/>
          </p:cNvSpPr>
          <p:nvPr/>
        </p:nvSpPr>
        <p:spPr>
          <a:xfrm xmlns:a="http://schemas.openxmlformats.org/drawingml/2006/main">
            <a:off x="609600" y="604837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8717B"/>
                </a:solidFill>
                <a:latin typeface="Arial"/>
                <a:ea typeface="Arial"/>
                <a:cs typeface="Arial"/>
              </a:defRPr>
            </a:pPr>
            <a:r>
              <a:rPr sz="1725" b="0">
                <a:solidFill>
                  <a:srgbClr val="58717B"/>
                </a:solidFill>
                <a:latin typeface="Arial"/>
                <a:ea typeface="Arial"/>
                <a:cs typeface="Arial"/>
              </a:rPr>
              <a:t>Round 3 · 3 minutes to review, 7 minutes to execute</a:t>
            </a:r>
          </a:p>
        </p:txBody>
      </p:sp>
      <p:sp>
        <p:nvSpPr>
          <p:cNvPr id="3" name="">
            <a:extLst xmlns:a="http://schemas.openxmlformats.org/drawingml/2006/main">
              <a:ext uri="{FF2B5EF4-FFF2-40B4-BE49-F238E27FC236}">
                <a16:creationId xmlns:a16="http://schemas.microsoft.com/office/drawing/2014/main" id="{12CF035E-F021-4E8F-A5BC-297EA9FBECCC}"/>
              </a:ext>
            </a:extLst>
          </p:cNvPr>
          <p:cNvSpPr>
            <a:spLocks xmlns:a="http://schemas.openxmlformats.org/drawingml/2006/main" noGrp="1"/>
          </p:cNvSpPr>
          <p:nvPr/>
        </p:nvSpPr>
        <p:spPr>
          <a:xfrm xmlns:a="http://schemas.openxmlformats.org/drawingml/2006/main">
            <a:off x="11144250" y="6048375"/>
            <a:ext cx="428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8717B"/>
                </a:solidFill>
                <a:latin typeface="Arial"/>
                <a:ea typeface="Arial"/>
                <a:cs typeface="Arial"/>
              </a:defRPr>
            </a:pPr>
            <a:r>
              <a:rPr sz="1725" b="0">
                <a:solidFill>
                  <a:srgbClr val="58717B"/>
                </a:solidFill>
                <a:latin typeface="Arial"/>
                <a:ea typeface="Arial"/>
                <a:cs typeface="Arial"/>
              </a:rPr>
              <a:t>5</a:t>
            </a:r>
          </a:p>
        </p:txBody>
      </p:sp>
      <p:sp>
        <p:nvSpPr>
          <p:cNvPr id="4" name="">
            <a:extLst xmlns:a="http://schemas.openxmlformats.org/drawingml/2006/main">
              <a:ext uri="{FF2B5EF4-FFF2-40B4-BE49-F238E27FC236}">
                <a16:creationId xmlns:a16="http://schemas.microsoft.com/office/drawing/2014/main" id="{DE7035E4-A3C8-45A7-BB67-9A4B5224D9F5}"/>
              </a:ext>
            </a:extLst>
          </p:cNvPr>
          <p:cNvSpPr>
            <a:spLocks xmlns:a="http://schemas.openxmlformats.org/drawingml/2006/main" noGrp="1"/>
          </p:cNvSpPr>
          <p:nvPr/>
        </p:nvSpPr>
        <p:spPr>
          <a:xfrm xmlns:a="http://schemas.openxmlformats.org/drawingml/2006/main">
            <a:off x="609600" y="147637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5778B"/>
                </a:solidFill>
                <a:latin typeface="Arial"/>
                <a:ea typeface="Arial"/>
                <a:cs typeface="Arial"/>
              </a:defRPr>
            </a:pPr>
            <a:r>
              <a:rPr sz="2550" b="1">
                <a:solidFill>
                  <a:srgbClr val="25778B"/>
                </a:solidFill>
                <a:latin typeface="Arial"/>
                <a:ea typeface="Arial"/>
                <a:cs typeface="Arial"/>
              </a:rPr>
              <a:t>Same advanced task, with a review before execution</a:t>
            </a:r>
          </a:p>
        </p:txBody>
      </p:sp>
      <p:sp>
        <p:nvSpPr>
          <p:cNvPr id="5" name="">
            <a:extLst xmlns:a="http://schemas.openxmlformats.org/drawingml/2006/main">
              <a:ext uri="{FF2B5EF4-FFF2-40B4-BE49-F238E27FC236}">
                <a16:creationId xmlns:a16="http://schemas.microsoft.com/office/drawing/2014/main" id="{7925E59E-A3B3-4F3D-869B-5778162B2BD7}"/>
              </a:ext>
            </a:extLst>
          </p:cNvPr>
          <p:cNvSpPr>
            <a:spLocks xmlns:a="http://schemas.openxmlformats.org/drawingml/2006/main" noGrp="1"/>
          </p:cNvSpPr>
          <p:nvPr/>
        </p:nvSpPr>
        <p:spPr>
          <a:xfrm xmlns:a="http://schemas.openxmlformats.org/drawingml/2006/main">
            <a:off x="609600" y="2524125"/>
            <a:ext cx="1095375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2B45"/>
                </a:solidFill>
                <a:latin typeface="Arial"/>
                <a:ea typeface="Arial"/>
                <a:cs typeface="Arial"/>
              </a:defRPr>
            </a:pPr>
            <a:r>
              <a:rPr sz="2250" b="0">
                <a:solidFill>
                  <a:srgbClr val="182B45"/>
                </a:solidFill>
                <a:latin typeface="Arial"/>
                <a:ea typeface="Arial"/>
                <a:cs typeface="Arial"/>
              </a:rPr>
              <a:t>Open round_3_plan in a fresh task and select Plan mode.</a:t>
            </a:r>
          </a:p>
          <a:p xmlns:a="http://schemas.openxmlformats.org/drawingml/2006/main">
            <a:pPr>
              <a:defRPr sz="2250" b="0">
                <a:solidFill>
                  <a:srgbClr val="182B45"/>
                </a:solidFill>
                <a:latin typeface="Arial"/>
                <a:ea typeface="Arial"/>
                <a:cs typeface="Arial"/>
              </a:defRPr>
            </a:pPr>
            <a:r>
              <a:rPr sz="2250" b="0">
                <a:solidFill>
                  <a:srgbClr val="182B45"/>
                </a:solidFill>
                <a:latin typeface="Arial"/>
                <a:ea typeface="Arial"/>
                <a:cs typeface="Arial"/>
              </a:rPr>
              <a:t>Paste PROMPT.txt and read the proposed approach.</a:t>
            </a:r>
          </a:p>
          <a:p xmlns:a="http://schemas.openxmlformats.org/drawingml/2006/main">
            <a:pPr>
              <a:defRPr sz="2250" b="0">
                <a:solidFill>
                  <a:srgbClr val="182B45"/>
                </a:solidFill>
                <a:latin typeface="Arial"/>
                <a:ea typeface="Arial"/>
                <a:cs typeface="Arial"/>
              </a:defRPr>
            </a:pPr>
            <a:r>
              <a:rPr sz="2250" b="0">
                <a:solidFill>
                  <a:srgbClr val="182B45"/>
                </a:solidFill>
                <a:latin typeface="Arial"/>
                <a:ea typeface="Arial"/>
                <a:cs typeface="Arial"/>
              </a:rPr>
              <a:t>Check the replicate unit, aggregation, pairing and units.</a:t>
            </a:r>
          </a:p>
          <a:p xmlns:a="http://schemas.openxmlformats.org/drawingml/2006/main">
            <a:pPr>
              <a:defRPr sz="2250" b="0">
                <a:solidFill>
                  <a:srgbClr val="182B45"/>
                </a:solidFill>
                <a:latin typeface="Arial"/>
                <a:ea typeface="Arial"/>
                <a:cs typeface="Arial"/>
              </a:defRPr>
            </a:pPr>
            <a:r>
              <a:rPr sz="2250" b="0">
                <a:solidFill>
                  <a:srgbClr val="182B45"/>
                </a:solidFill>
                <a:latin typeface="Arial"/>
                <a:ea typeface="Arial"/>
                <a:cs typeface="Arial"/>
              </a:rPr>
              <a:t>Request corrections, then approve the reviewed plan.</a:t>
            </a:r>
          </a:p>
          <a:p xmlns:a="http://schemas.openxmlformats.org/drawingml/2006/main">
            <a:pPr>
              <a:defRPr sz="2250" b="0">
                <a:solidFill>
                  <a:srgbClr val="182B45"/>
                </a:solidFill>
                <a:latin typeface="Arial"/>
                <a:ea typeface="Arial"/>
                <a:cs typeface="Arial"/>
              </a:defRPr>
            </a:pPr>
            <a:r>
              <a:rPr sz="2250" b="0">
                <a:solidFill>
                  <a:srgbClr val="182B45"/>
                </a:solidFill>
                <a:latin typeface="Arial"/>
                <a:ea typeface="Arial"/>
                <a:cs typeface="Arial"/>
              </a:rPr>
              <a:t>Start execution and inspect the figure and saved table.</a:t>
            </a:r>
          </a:p>
        </p:txBody>
      </p:sp>
      <p:sp>
        <p:nvSpPr>
          <p:cNvPr id="6" name="">
            <a:extLst xmlns:a="http://schemas.openxmlformats.org/drawingml/2006/main">
              <a:ext uri="{FF2B5EF4-FFF2-40B4-BE49-F238E27FC236}">
                <a16:creationId xmlns:a16="http://schemas.microsoft.com/office/drawing/2014/main" id="{8125AE0F-DB01-4E4F-BACD-259F8F50D1BE}"/>
              </a:ext>
            </a:extLst>
          </p:cNvPr>
          <p:cNvSpPr>
            <a:spLocks xmlns:a="http://schemas.openxmlformats.org/drawingml/2006/main" noGrp="1"/>
          </p:cNvSpPr>
          <p:nvPr/>
        </p:nvSpPr>
        <p:spPr>
          <a:xfrm xmlns:a="http://schemas.openxmlformats.org/drawingml/2006/main">
            <a:off x="609600" y="53816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8717B"/>
                </a:solidFill>
                <a:latin typeface="Arial"/>
                <a:ea typeface="Arial"/>
                <a:cs typeface="Arial"/>
              </a:defRPr>
            </a:pPr>
            <a:r>
              <a:rPr sz="2025" b="0">
                <a:solidFill>
                  <a:srgbClr val="58717B"/>
                </a:solidFill>
                <a:latin typeface="Arial"/>
                <a:ea typeface="Arial"/>
                <a:cs typeface="Arial"/>
              </a:rPr>
              <a:t>Keep the plan and record any decisions you changed.</a:t>
            </a:r>
          </a:p>
        </p:txBody>
      </p:sp>
    </p:spTree>
    <p:extLst>
      <p:ext uri="{BB962C8B-B14F-4D97-AF65-F5344CB8AC3E}">
        <p14:creationId xmlns:p14="http://schemas.microsoft.com/office/powerpoint/2010/main" val="92210130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5D92EC3-1710-41D9-9BFA-8C92EFBCA8B9}"/>
              </a:ext>
            </a:extLst>
          </p:cNvPr>
          <p:cNvSpPr>
            <a:spLocks xmlns:a="http://schemas.openxmlformats.org/drawingml/2006/main" noGrp="1"/>
          </p:cNvSpPr>
          <p:nvPr/>
        </p:nvSpPr>
        <p:spPr>
          <a:xfrm xmlns:a="http://schemas.openxmlformats.org/drawingml/2006/main">
            <a:off x="609600" y="4572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2B45"/>
                </a:solidFill>
                <a:latin typeface="Arial"/>
                <a:ea typeface="Arial"/>
                <a:cs typeface="Arial"/>
              </a:defRPr>
            </a:pPr>
            <a:r>
              <a:rPr sz="3300" b="1">
                <a:solidFill>
                  <a:srgbClr val="182B45"/>
                </a:solidFill>
                <a:latin typeface="Arial"/>
                <a:ea typeface="Arial"/>
                <a:cs typeface="Arial"/>
              </a:rPr>
              <a:t>Comparison of the three figures</a:t>
            </a:r>
          </a:p>
        </p:txBody>
      </p:sp>
      <p:sp>
        <p:nvSpPr>
          <p:cNvPr id="2" name="">
            <a:extLst xmlns:a="http://schemas.openxmlformats.org/drawingml/2006/main">
              <a:ext uri="{FF2B5EF4-FFF2-40B4-BE49-F238E27FC236}">
                <a16:creationId xmlns:a16="http://schemas.microsoft.com/office/drawing/2014/main" id="{979D134B-7FE1-4A56-8C8D-A09E3BA31B77}"/>
              </a:ext>
            </a:extLst>
          </p:cNvPr>
          <p:cNvSpPr>
            <a:spLocks xmlns:a="http://schemas.openxmlformats.org/drawingml/2006/main" noGrp="1"/>
          </p:cNvSpPr>
          <p:nvPr/>
        </p:nvSpPr>
        <p:spPr>
          <a:xfrm xmlns:a="http://schemas.openxmlformats.org/drawingml/2006/main">
            <a:off x="609600" y="604837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8717B"/>
                </a:solidFill>
                <a:latin typeface="Arial"/>
                <a:ea typeface="Arial"/>
                <a:cs typeface="Arial"/>
              </a:defRPr>
            </a:pPr>
            <a:r>
              <a:rPr sz="1725" b="0">
                <a:solidFill>
                  <a:srgbClr val="58717B"/>
                </a:solidFill>
                <a:latin typeface="Arial"/>
                <a:ea typeface="Arial"/>
                <a:cs typeface="Arial"/>
              </a:rPr>
              <a:t>Discussion · 5 minutes</a:t>
            </a:r>
          </a:p>
        </p:txBody>
      </p:sp>
      <p:sp>
        <p:nvSpPr>
          <p:cNvPr id="3" name="">
            <a:extLst xmlns:a="http://schemas.openxmlformats.org/drawingml/2006/main">
              <a:ext uri="{FF2B5EF4-FFF2-40B4-BE49-F238E27FC236}">
                <a16:creationId xmlns:a16="http://schemas.microsoft.com/office/drawing/2014/main" id="{B547969F-F2DE-42E7-818F-500DAF8A484F}"/>
              </a:ext>
            </a:extLst>
          </p:cNvPr>
          <p:cNvSpPr>
            <a:spLocks xmlns:a="http://schemas.openxmlformats.org/drawingml/2006/main" noGrp="1"/>
          </p:cNvSpPr>
          <p:nvPr/>
        </p:nvSpPr>
        <p:spPr>
          <a:xfrm xmlns:a="http://schemas.openxmlformats.org/drawingml/2006/main">
            <a:off x="11144250" y="6048375"/>
            <a:ext cx="428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8717B"/>
                </a:solidFill>
                <a:latin typeface="Arial"/>
                <a:ea typeface="Arial"/>
                <a:cs typeface="Arial"/>
              </a:defRPr>
            </a:pPr>
            <a:r>
              <a:rPr sz="1725" b="0">
                <a:solidFill>
                  <a:srgbClr val="58717B"/>
                </a:solidFill>
                <a:latin typeface="Arial"/>
                <a:ea typeface="Arial"/>
                <a:cs typeface="Arial"/>
              </a:rPr>
              <a:t>6</a:t>
            </a:r>
          </a:p>
        </p:txBody>
      </p:sp>
      <p:sp>
        <p:nvSpPr>
          <p:cNvPr id="4" name="">
            <a:extLst xmlns:a="http://schemas.openxmlformats.org/drawingml/2006/main">
              <a:ext uri="{FF2B5EF4-FFF2-40B4-BE49-F238E27FC236}">
                <a16:creationId xmlns:a16="http://schemas.microsoft.com/office/drawing/2014/main" id="{D699984D-AC0B-432D-9935-219C43B3C816}"/>
              </a:ext>
            </a:extLst>
          </p:cNvPr>
          <p:cNvSpPr>
            <a:spLocks xmlns:a="http://schemas.openxmlformats.org/drawingml/2006/main" noGrp="1"/>
          </p:cNvSpPr>
          <p:nvPr/>
        </p:nvSpPr>
        <p:spPr>
          <a:xfrm xmlns:a="http://schemas.openxmlformats.org/drawingml/2006/main">
            <a:off x="609600" y="147637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25778B"/>
                </a:solidFill>
                <a:latin typeface="Arial"/>
                <a:ea typeface="Arial"/>
                <a:cs typeface="Arial"/>
              </a:defRPr>
            </a:pPr>
            <a:r>
              <a:rPr sz="2775" b="1">
                <a:solidFill>
                  <a:srgbClr val="25778B"/>
                </a:solidFill>
                <a:latin typeface="Arial"/>
                <a:ea typeface="Arial"/>
                <a:cs typeface="Arial"/>
              </a:rPr>
              <a:t>Which result can you verify?</a:t>
            </a:r>
          </a:p>
        </p:txBody>
      </p:sp>
      <p:sp>
        <p:nvSpPr>
          <p:cNvPr id="5" name="">
            <a:extLst xmlns:a="http://schemas.openxmlformats.org/drawingml/2006/main">
              <a:ext uri="{FF2B5EF4-FFF2-40B4-BE49-F238E27FC236}">
                <a16:creationId xmlns:a16="http://schemas.microsoft.com/office/drawing/2014/main" id="{20E807A3-B5E8-4B24-A43A-19A89E63AC2C}"/>
              </a:ext>
            </a:extLst>
          </p:cNvPr>
          <p:cNvSpPr>
            <a:spLocks xmlns:a="http://schemas.openxmlformats.org/drawingml/2006/main" noGrp="1"/>
          </p:cNvSpPr>
          <p:nvPr/>
        </p:nvSpPr>
        <p:spPr>
          <a:xfrm xmlns:a="http://schemas.openxmlformats.org/drawingml/2006/main">
            <a:off x="609600" y="2571750"/>
            <a:ext cx="109537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82B45"/>
                </a:solidFill>
                <a:latin typeface="Arial"/>
                <a:ea typeface="Arial"/>
                <a:cs typeface="Arial"/>
              </a:defRPr>
            </a:pPr>
            <a:r>
              <a:rPr sz="2325" b="0">
                <a:solidFill>
                  <a:srgbClr val="182B45"/>
                </a:solidFill>
                <a:latin typeface="Arial"/>
                <a:ea typeface="Arial"/>
                <a:cs typeface="Arial"/>
              </a:rPr>
              <a:t>Trace one plotted value to its two technical measurements.</a:t>
            </a:r>
          </a:p>
          <a:p xmlns:a="http://schemas.openxmlformats.org/drawingml/2006/main">
            <a:pPr>
              <a:defRPr sz="2325" b="0">
                <a:solidFill>
                  <a:srgbClr val="182B45"/>
                </a:solidFill>
                <a:latin typeface="Arial"/>
                <a:ea typeface="Arial"/>
                <a:cs typeface="Arial"/>
              </a:defRPr>
            </a:pPr>
            <a:r>
              <a:rPr sz="2325" b="0">
                <a:solidFill>
                  <a:srgbClr val="182B45"/>
                </a:solidFill>
                <a:latin typeface="Arial"/>
                <a:ea typeface="Arial"/>
                <a:cs typeface="Arial"/>
              </a:rPr>
              <a:t>Check that every condition includes all 10 donors.</a:t>
            </a:r>
          </a:p>
          <a:p xmlns:a="http://schemas.openxmlformats.org/drawingml/2006/main">
            <a:pPr>
              <a:defRPr sz="2325" b="0">
                <a:solidFill>
                  <a:srgbClr val="182B45"/>
                </a:solidFill>
                <a:latin typeface="Arial"/>
                <a:ea typeface="Arial"/>
                <a:cs typeface="Arial"/>
              </a:defRPr>
            </a:pPr>
            <a:r>
              <a:rPr sz="2325" b="0">
                <a:solidFill>
                  <a:srgbClr val="182B45"/>
                </a:solidFill>
                <a:latin typeface="Arial"/>
                <a:ea typeface="Arial"/>
                <a:cs typeface="Arial"/>
              </a:rPr>
              <a:t>Check pairing, units and the synthetic-data caption.</a:t>
            </a:r>
          </a:p>
          <a:p xmlns:a="http://schemas.openxmlformats.org/drawingml/2006/main">
            <a:pPr>
              <a:defRPr sz="2325" b="0">
                <a:solidFill>
                  <a:srgbClr val="182B45"/>
                </a:solidFill>
                <a:latin typeface="Arial"/>
                <a:ea typeface="Arial"/>
                <a:cs typeface="Arial"/>
              </a:defRPr>
            </a:pPr>
            <a:r>
              <a:rPr sz="2325" b="0">
                <a:solidFill>
                  <a:srgbClr val="182B45"/>
                </a:solidFill>
                <a:latin typeface="Arial"/>
                <a:ea typeface="Arial"/>
                <a:cs typeface="Arial"/>
              </a:rPr>
              <a:t>Open the code and test its regeneration command.</a:t>
            </a:r>
          </a:p>
        </p:txBody>
      </p:sp>
      <p:sp>
        <p:nvSpPr>
          <p:cNvPr id="6" name="">
            <a:extLst xmlns:a="http://schemas.openxmlformats.org/drawingml/2006/main">
              <a:ext uri="{FF2B5EF4-FFF2-40B4-BE49-F238E27FC236}">
                <a16:creationId xmlns:a16="http://schemas.microsoft.com/office/drawing/2014/main" id="{FC3EFF80-CD2F-431C-9EC4-59572FAC6A6F}"/>
              </a:ext>
            </a:extLst>
          </p:cNvPr>
          <p:cNvSpPr>
            <a:spLocks xmlns:a="http://schemas.openxmlformats.org/drawingml/2006/main" noGrp="1"/>
          </p:cNvSpPr>
          <p:nvPr/>
        </p:nvSpPr>
        <p:spPr>
          <a:xfrm xmlns:a="http://schemas.openxmlformats.org/drawingml/2006/main">
            <a:off x="609600" y="5095875"/>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2B45"/>
                </a:solidFill>
                <a:latin typeface="Arial"/>
                <a:ea typeface="Arial"/>
                <a:cs typeface="Arial"/>
              </a:defRPr>
            </a:pPr>
            <a:r>
              <a:rPr sz="2175" b="1">
                <a:solidFill>
                  <a:srgbClr val="182B45"/>
                </a:solidFill>
                <a:latin typeface="Arial"/>
                <a:ea typeface="Arial"/>
                <a:cs typeface="Arial"/>
              </a:rPr>
              <a:t>Use REVIEW_SHEET.md and record missing evidence.</a:t>
            </a:r>
          </a:p>
          <a:p xmlns:a="http://schemas.openxmlformats.org/drawingml/2006/main">
            <a:pPr>
              <a:defRPr sz="2175" b="1">
                <a:solidFill>
                  <a:srgbClr val="182B45"/>
                </a:solidFill>
                <a:latin typeface="Arial"/>
                <a:ea typeface="Arial"/>
                <a:cs typeface="Arial"/>
              </a:defRPr>
            </a:pPr>
            <a:r>
              <a:rPr sz="2175" b="1">
                <a:solidFill>
                  <a:srgbClr val="182B45"/>
                </a:solidFill>
                <a:latin typeface="Arial"/>
                <a:ea typeface="Arial"/>
                <a:cs typeface="Arial"/>
              </a:rPr>
              <a:t>What did reviewing the plan change?</a:t>
            </a:r>
          </a:p>
        </p:txBody>
      </p:sp>
    </p:spTree>
    <p:extLst>
      <p:ext uri="{BB962C8B-B14F-4D97-AF65-F5344CB8AC3E}">
        <p14:creationId xmlns:p14="http://schemas.microsoft.com/office/powerpoint/2010/main" val="15833075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2026-09-17T08:17:04.4680000Z</dcterms:created>
  <dcterms:modified xsi:type="dcterms:W3CDTF">2026-09-17T08:17:04.4680000Z</dcterms:modified>
</coreProperties>
</file>